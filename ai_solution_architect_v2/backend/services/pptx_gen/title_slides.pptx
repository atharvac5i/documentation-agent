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7"/>
  </p:sldMasterIdLst>
  <p:notesMasterIdLst>
    <p:notesMasterId r:id="rId10"/>
  </p:notesMasterIdLst>
  <p:sldIdLst>
    <p:sldId id="279" r:id="rId8"/>
    <p:sldId id="21474826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BE73D7D-DE62-5268-4B14-29570BCF7451}" name="Manish Singh" initials="MS" userId="S::Manish.Singh@course5i.com::6b393c12-b070-4a3e-b376-478430bb2ec7" providerId="AD"/>
  <p188:author id="{F7C85F7D-0471-C107-67BE-ADCE8BAAA3F9}" name="Nikhil Kandankerry" initials="NK" userId="S::nikhil1.kandankerry@course5i.com::260234d5-030d-4cd5-b411-89a1664fc806" providerId="AD"/>
  <p188:author id="{2B7FC982-38FE-E53E-9699-ECD095AD77CF}" name="Sayan Goswami" initials="SG" userId="S::Sayan.Goswami@course5i.com::352f43c9-c82a-4aba-a2a4-79d7865d4db7" providerId="AD"/>
  <p188:author id="{CB711E94-A83D-7883-F3EE-1864AB2B2EB1}" name="Nisha Choudhary" initials="NC" userId="S::nisha.choudhary@course5i.com::dd1fdac5-2d55-467d-83a7-4af8c2e25693" providerId="AD"/>
  <p188:author id="{26AD709D-7619-D830-1FE8-41FA2DE630EC}" name="Anees Merchant" initials="AM" userId="S::Anees.Merchant@course5i.com::0cab4fef-6107-4c0c-bb50-11f873751725" providerId="AD"/>
  <p188:author id="{79AEB69D-F76C-1C45-9B71-9409D3E0A367}" name="Girish Rao S" initials="GS" userId="S::Girish.S@course5i.com::f21a9eab-a69b-4dcc-84e4-6d5318718cfc" providerId="AD"/>
  <p188:author id="{C3F819FA-5666-F96C-8DC3-8009B1143CBE}" name="Ridhi Agarwal" initials="" userId="S::Ridhi.Agarwal@course5i.com::73ad843f-3a69-4230-b5cd-7660a3093b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E0"/>
    <a:srgbClr val="BB71F5"/>
    <a:srgbClr val="BC9BEC"/>
    <a:srgbClr val="1F004C"/>
    <a:srgbClr val="420897"/>
    <a:srgbClr val="8C51E1"/>
    <a:srgbClr val="0C0C0C"/>
    <a:srgbClr val="CCCCCC"/>
    <a:srgbClr val="F6F6F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845"/>
        <p:guide pos="3840"/>
        <p:guide pos="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17E20-E636-4349-883E-85521C45726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11FCA-6FDC-451C-B62C-1C1F4FE3F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6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11FCA-6FDC-451C-B62C-1C1F4FE3F5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48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2DCD-53D2-2449-D893-EFBCF39A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7DBB9-D60B-7D02-3F83-2A73976FE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1445A-388E-DA87-7083-7430AFB74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B7511-DB2B-E11B-1F97-BF5F38C05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05A1B4-94E4-4B3E-B339-6CC553E8578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263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065269"/>
            <a:ext cx="3935414" cy="1011046"/>
          </a:xfrm>
        </p:spPr>
        <p:txBody>
          <a:bodyPr lIns="0" tIns="0" rIns="0" bIns="0">
            <a:spAutoFit/>
          </a:bodyPr>
          <a:lstStyle>
            <a:lvl1pPr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9FC8DA47-3A09-4F00-8305-F0B3A1CA7BB5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06F20ED-AAF6-4A17-97AA-86A4AF4EDCD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6137275"/>
            <a:ext cx="720000" cy="72072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368300" y="6259408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3341422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0FC365-A10F-E1B3-4869-F840DD07E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7926" y="720725"/>
            <a:ext cx="6484074" cy="5417275"/>
          </a:xfrm>
        </p:spPr>
        <p:txBody>
          <a:bodyPr/>
          <a:lstStyle/>
          <a:p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855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DA0145-FFB0-2062-B0F5-8F6F338AE7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0188" y="4062413"/>
            <a:ext cx="3970337" cy="25622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IN" sz="18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213" y="2877229"/>
            <a:ext cx="3935414" cy="997196"/>
          </a:xfr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F59A-FA18-47FB-B281-DAE40EB425F0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540"/>
            <a:ext cx="4217671" cy="694689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876934" y="6266921"/>
            <a:ext cx="3426780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5633" y="1895042"/>
            <a:ext cx="6484074" cy="3293838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3401BF-B6A3-5E56-D9F4-80B91B1B11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5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944" y="3131890"/>
            <a:ext cx="3935414" cy="1159736"/>
          </a:xfrm>
        </p:spPr>
        <p:txBody>
          <a:bodyPr lIns="0" tIns="0" rIns="0" bIns="0">
            <a:spAutoFit/>
          </a:bodyPr>
          <a:lstStyle>
            <a:lvl1pPr>
              <a:defRPr sz="4000"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9C4E6-1755-48B9-A707-63047D88047A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464364" y="2931938"/>
            <a:ext cx="2038585" cy="500853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39624" y="5606128"/>
            <a:ext cx="1421766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7926" y="720000"/>
            <a:ext cx="6484074" cy="5769700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82FD74-C220-DBEF-2B9B-097F67F36C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08E9B6-26E3-379A-C10D-E09CF66E22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250" y="4578350"/>
            <a:ext cx="3936108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E6F6C8-E3E4-764F-1E55-FBB0C9628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0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56D13AA-BC4B-892C-C81B-3B8049CC6E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94047"/>
            <a:ext cx="10113433" cy="443198"/>
          </a:xfrm>
        </p:spPr>
        <p:txBody>
          <a:bodyPr wrap="square" lIns="0" tIns="0" rIns="0" bIns="0" anchor="ctr">
            <a:spAutoFit/>
          </a:bodyPr>
          <a:lstStyle>
            <a:lvl1pPr algn="l">
              <a:defRPr sz="32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8BFA-FFFE-449E-A5F7-AA919EC454C5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022032"/>
            <a:ext cx="1145222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FBE9A6-FA26-90ED-52F0-61ED76944F69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402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68300"/>
            <a:ext cx="10113434" cy="443198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50D3-639E-4C6A-BAEE-4E41B5F2A14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E30267-61B4-B245-1C86-403A434637E5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E287B6E0-52E7-35CA-3030-79AA65C17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2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C4CE-DE0F-4102-A09A-1DE94E22D99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513522"/>
            <a:ext cx="1011343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17A286-0E5B-29DB-56C2-F56C019D61FB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977EAA5-43E4-907D-F394-1DF8FE871C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80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6594-349B-4025-A45C-E922E23AE391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2845-BD6D-2336-5FD1-0124D82900EC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AD31D00-962B-5CB9-A533-23911A17FF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8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19D14-171F-49F6-A07C-05640514E00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204F8F-876D-CB6B-C6DF-D35F2489D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300" y="1781087"/>
            <a:ext cx="10113434" cy="443198"/>
          </a:xfr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368300"/>
            <a:ext cx="990600" cy="9906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700"/>
            <a:ext cx="11452224" cy="490904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BDAD043-5CE9-56E1-BF4C-CF4562871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90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E17E1-E5D9-44F4-AB68-40BE993B70E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835012"/>
            <a:ext cx="622300" cy="6223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699"/>
            <a:ext cx="5346700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623A56E-88F9-D66F-F371-62ED87E7FB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5398" y="2552699"/>
            <a:ext cx="5445125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48A9A1-7226-FE9A-6540-29824FA64E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5398" y="1724483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300" y="1699084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FCCD21B-AF61-A7CC-AE31-97F19C4B5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8100" y="835012"/>
            <a:ext cx="622300" cy="6223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2298700"/>
            <a:ext cx="4248000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B6C3E9-68F6-BDA4-AC49-18CE861B285E}"/>
              </a:ext>
            </a:extLst>
          </p:cNvPr>
          <p:cNvCxnSpPr>
            <a:cxnSpLocks/>
          </p:cNvCxnSpPr>
          <p:nvPr userDrawn="1"/>
        </p:nvCxnSpPr>
        <p:spPr>
          <a:xfrm>
            <a:off x="6375398" y="2298700"/>
            <a:ext cx="4206877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6EED4515-FC0A-BFF1-F3CA-07266743A0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28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4DCA09-CDA8-2222-4287-83D2A5BF52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8300" y="368300"/>
            <a:ext cx="11452225" cy="30607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5C34-EB78-4384-BD3B-8EFB04F75FD0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4559300"/>
            <a:ext cx="11452224" cy="17653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8300" y="3548300"/>
            <a:ext cx="4169410" cy="664797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4341815"/>
            <a:ext cx="4878403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>
            <a:off x="368300" y="2806700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34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5" y="3431439"/>
            <a:ext cx="8743946" cy="34364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55A37DF-70BC-1FFE-646A-ADFFFD19B2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197" y="-1"/>
            <a:ext cx="3428804" cy="34289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015CCE1-46A9-EACD-DE40-248D82A1B7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5333997" cy="342899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457700"/>
            <a:ext cx="8128000" cy="398571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043488"/>
            <a:ext cx="81280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635C8-24B4-AF44-DF7E-8C4FF7A60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9F6F14A-E001-9412-EDB9-4E7F4C2CFE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5F470A-F06E-8EA1-23D9-3172D0099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9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431439"/>
            <a:ext cx="5334000" cy="34364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263801"/>
            <a:ext cx="4305300" cy="78636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212821"/>
            <a:ext cx="43053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67B2AFA-DFF8-5306-5B34-2CF9C448DD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E18AFCA-4718-B42A-442F-4CE8899B70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223BFC-6666-5CBB-2DFE-7A3A254B34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1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2725FEF-9ABF-0B61-DDA4-467541565B32}"/>
              </a:ext>
            </a:extLst>
          </p:cNvPr>
          <p:cNvSpPr/>
          <p:nvPr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1E5A604-D1B3-D48F-5C4D-D604A6F7ADA9}"/>
              </a:ext>
            </a:extLst>
          </p:cNvPr>
          <p:cNvSpPr/>
          <p:nvPr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B40CBC-25CB-E67E-EB85-427CA865B65F}"/>
              </a:ext>
            </a:extLst>
          </p:cNvPr>
          <p:cNvSpPr/>
          <p:nvPr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49132"/>
            <a:ext cx="4720079" cy="1107996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4000" b="1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AD4EB10-7E76-E65A-29FD-8D1A88F7A39D}"/>
              </a:ext>
            </a:extLst>
          </p:cNvPr>
          <p:cNvSpPr/>
          <p:nvPr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8F1B72-2769-0AF9-2723-A95A6BFD2D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58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75002"/>
            <a:ext cx="4748361" cy="1107996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8E820F-DBE6-8203-10D1-3B4A01F1B053}"/>
              </a:ext>
            </a:extLst>
          </p:cNvPr>
          <p:cNvSpPr/>
          <p:nvPr userDrawn="1"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95458FD-A920-3DBA-BD1B-D1E250C277E9}"/>
              </a:ext>
            </a:extLst>
          </p:cNvPr>
          <p:cNvSpPr/>
          <p:nvPr userDrawn="1"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9561116-FC82-5E92-5F6E-626F93F44762}"/>
              </a:ext>
            </a:extLst>
          </p:cNvPr>
          <p:cNvSpPr/>
          <p:nvPr userDrawn="1"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6DF2066-7F52-81F7-D881-54160AC104E8}"/>
              </a:ext>
            </a:extLst>
          </p:cNvPr>
          <p:cNvSpPr/>
          <p:nvPr userDrawn="1"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5EF79B-DFF2-5B27-C769-4DCA48151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0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208FF4B-6421-33B1-332F-7A714CAB9A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259" y="1295107"/>
            <a:ext cx="2713482" cy="139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82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A910EB0-EBBA-9768-BB5B-712708A55D8E}"/>
              </a:ext>
            </a:extLst>
          </p:cNvPr>
          <p:cNvGrpSpPr/>
          <p:nvPr userDrawn="1"/>
        </p:nvGrpSpPr>
        <p:grpSpPr>
          <a:xfrm>
            <a:off x="0" y="0"/>
            <a:ext cx="12218670" cy="6877368"/>
            <a:chOff x="0" y="0"/>
            <a:chExt cx="12218670" cy="6877368"/>
          </a:xfrm>
        </p:grpSpPr>
        <p:pic>
          <p:nvPicPr>
            <p:cNvPr id="6" name="Picture 5" descr="A group of glass squares&#10;&#10;Description automatically generated">
              <a:extLst>
                <a:ext uri="{FF2B5EF4-FFF2-40B4-BE49-F238E27FC236}">
                  <a16:creationId xmlns:a16="http://schemas.microsoft.com/office/drawing/2014/main" id="{2DF0C94B-3105-699A-8EE8-2EC9F7333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8FB322-AEF2-B0D5-4523-275EEA640EB7}"/>
                </a:ext>
              </a:extLst>
            </p:cNvPr>
            <p:cNvSpPr/>
            <p:nvPr userDrawn="1"/>
          </p:nvSpPr>
          <p:spPr>
            <a:xfrm>
              <a:off x="0" y="0"/>
              <a:ext cx="12218670" cy="6877368"/>
            </a:xfrm>
            <a:prstGeom prst="rect">
              <a:avLst/>
            </a:prstGeom>
            <a:solidFill>
              <a:schemeClr val="tx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D17721CF-C478-A34D-482E-6EC88169A2A3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BF6468DF-2F91-FD70-4E2C-94722DE246BA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9F96F12-75CF-6E04-B4A7-158C1832B695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2" name="Graphic 8">
                <a:extLst>
                  <a:ext uri="{FF2B5EF4-FFF2-40B4-BE49-F238E27FC236}">
                    <a16:creationId xmlns:a16="http://schemas.microsoft.com/office/drawing/2014/main" id="{94490FE6-E8CC-A24D-8CB2-D6A1BB4CCCF6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45585D88-D8AE-9D24-8FE9-89FF10A9F8F0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1702AEFC-884C-0907-14E3-F83540839AE0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635A3D8-E8C6-83A1-837E-007F23342975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B9E8BBA-CC6B-B305-8885-B873DCBC9F5C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843331E-B897-34A9-81CD-F4D4AAB88069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2238AAEE-EC4A-17FB-B7F9-B7B61043BBC1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0213EF8-3763-6203-AACE-7507F810FD04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749F479-B0EC-AFA0-9832-F31B3D9BFDC5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231FC66-C42A-AF9E-6150-898C5F1F49B1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73CD0B4-8A81-BB05-8C48-3E51D28E2238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0172A90-47C6-D204-A7FC-C652B532D4A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B819D9F-0BEF-72CA-DFB7-C98A17A1A920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836894C-8D13-F858-4EFE-AB4D0C609C15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DDD8389-9A93-D4E5-31F2-960C7B6F4401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5264113-0AAC-0D66-A240-9CA935052403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611C104-CEA5-B01A-F72F-D4AE30E0B747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EF70BB-68D8-CDB1-5F9D-5678B7901D1C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8DE297A-4855-4447-7245-D1E8843D2A4F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13C483-3DB9-0DFD-857A-5E037E7FC030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81F715B-272E-DB4F-67C4-D12873C16816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732A14D-F841-76C6-E7CD-82296E536F73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762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8FB322-AEF2-B0D5-4523-275EEA640EB7}"/>
              </a:ext>
            </a:extLst>
          </p:cNvPr>
          <p:cNvSpPr/>
          <p:nvPr userDrawn="1"/>
        </p:nvSpPr>
        <p:spPr>
          <a:xfrm>
            <a:off x="0" y="0"/>
            <a:ext cx="12218670" cy="6877368"/>
          </a:xfrm>
          <a:prstGeom prst="rect">
            <a:avLst/>
          </a:prstGeom>
          <a:solidFill>
            <a:srgbClr val="720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0FD15D7C-E438-464C-5B31-09C5A98116C7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E11C5249-8214-0B4B-D8A9-44B60EF6DBD5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A8C760-3445-4E81-5FEE-54BD9E35F5EC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0" name="Graphic 8">
                <a:extLst>
                  <a:ext uri="{FF2B5EF4-FFF2-40B4-BE49-F238E27FC236}">
                    <a16:creationId xmlns:a16="http://schemas.microsoft.com/office/drawing/2014/main" id="{1B3DBBF6-01FA-1C80-F13C-1AB7EA467F15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5896B4C-3723-8BF0-2E75-5A884548AB88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1253450-9B2E-76B6-A5B2-0B5E2833D20B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8A89A17-6343-955F-2759-F4E5CE7BE24A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E6D9076-F287-243B-3CD5-035A37A6A749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14DAB2A6-BBC1-9607-802D-210916D96D9C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7849F086-895B-5829-1985-45040421C7A2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7EA90B7-1DBB-5764-B424-88C85F53E81C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CB4B017-1F34-A6B3-2FA9-D92145B7E8DF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28F7CC7-3DBA-82B9-D894-BD24E0D6272F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FEAD2FC-1BB0-69C5-1AB2-19008E6427FC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10834D5-47AA-C13B-AADA-78BF310C8A2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FF548E0-F157-C8A5-347F-96B14B47AAE8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4895DB2-993C-AA5B-8DDD-4DBA4A78E059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B1E9C1C-3DF8-5117-3E8B-8214AD7D08C9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1A5736C-AF01-1F71-E684-F502CB87E5BA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5D20833-0E99-7867-8B52-6E1A9FB749AE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5F8C548-DF8A-9344-EBAA-0075A322F261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F98E2-336F-E990-58B5-7EACD2BDDBD5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4B50ABF-18F3-8401-B88E-2B4D7DE36ACF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45DD0E4-CDDB-0549-5E94-83288E8C01A2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E17E39C-3B1F-92A8-7DC2-EBD01A8F3785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4730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78673A1-EC25-74F7-389D-D2FA4D65C1BA}"/>
              </a:ext>
            </a:extLst>
          </p:cNvPr>
          <p:cNvGrpSpPr/>
          <p:nvPr userDrawn="1"/>
        </p:nvGrpSpPr>
        <p:grpSpPr>
          <a:xfrm>
            <a:off x="0" y="-1574800"/>
            <a:ext cx="14510520" cy="10007600"/>
            <a:chOff x="0" y="-1574800"/>
            <a:chExt cx="14510520" cy="10007600"/>
          </a:xfrm>
        </p:grpSpPr>
        <p:pic>
          <p:nvPicPr>
            <p:cNvPr id="11" name="Picture 10" descr="A group of cubes stacked together&#10;&#10;Description automatically generated">
              <a:extLst>
                <a:ext uri="{FF2B5EF4-FFF2-40B4-BE49-F238E27FC236}">
                  <a16:creationId xmlns:a16="http://schemas.microsoft.com/office/drawing/2014/main" id="{1C6B1F51-F1FD-4355-C3D0-E4C81FC276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" r="-1" b="-1"/>
            <a:stretch/>
          </p:blipFill>
          <p:spPr>
            <a:xfrm>
              <a:off x="0" y="1282"/>
              <a:ext cx="12191980" cy="685671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1213671-4015-6B42-37D7-92BAA65755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26460" y="-1574800"/>
              <a:ext cx="8384060" cy="10007600"/>
            </a:xfrm>
            <a:prstGeom prst="rect">
              <a:avLst/>
            </a:prstGeom>
          </p:spPr>
        </p:pic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12EBDE-74C9-8675-C101-131B7D1642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935" y="2651125"/>
            <a:ext cx="5791200" cy="2209800"/>
          </a:xfrm>
          <a:solidFill>
            <a:schemeClr val="tx1">
              <a:alpha val="78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0EBD09-88F3-26C8-03F8-B60877249F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8300" y="371038"/>
            <a:ext cx="1248492" cy="63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96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6817254"/>
              <a:gd name="connsiteY0" fmla="*/ 0 h 719051"/>
              <a:gd name="connsiteX1" fmla="*/ 6817255 w 6817254"/>
              <a:gd name="connsiteY1" fmla="*/ 0 h 719051"/>
              <a:gd name="connsiteX2" fmla="*/ 6817255 w 6817254"/>
              <a:gd name="connsiteY2" fmla="*/ 719051 h 719051"/>
              <a:gd name="connsiteX3" fmla="*/ 0 w 6817254"/>
              <a:gd name="connsiteY3" fmla="*/ 719051 h 71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7254" h="719051">
                <a:moveTo>
                  <a:pt x="0" y="0"/>
                </a:moveTo>
                <a:lnTo>
                  <a:pt x="6817255" y="0"/>
                </a:lnTo>
                <a:lnTo>
                  <a:pt x="6817255" y="719051"/>
                </a:lnTo>
                <a:lnTo>
                  <a:pt x="0" y="719051"/>
                </a:lnTo>
                <a:close/>
              </a:path>
            </a:pathLst>
          </a:custGeom>
          <a:solidFill>
            <a:srgbClr val="6800E0"/>
          </a:solidFill>
          <a:ln w="52867" cap="flat">
            <a:noFill/>
            <a:prstDash val="solid"/>
            <a:miter/>
          </a:ln>
        </p:spPr>
        <p:txBody>
          <a:bodyPr rtlCol="0" anchor="ctr"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035930"/>
            <a:ext cx="3935414" cy="1011046"/>
          </a:xfrm>
        </p:spPr>
        <p:txBody>
          <a:bodyPr lIns="0" tIns="0" rIns="0" bIns="0">
            <a:spAutoFit/>
          </a:bodyPr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B6B4175-9D45-4B4E-95BC-FC81B8E98CC9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300888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020811-A2D9-2CD7-4BEA-090C415D2C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63" b="888"/>
          <a:stretch/>
        </p:blipFill>
        <p:spPr>
          <a:xfrm>
            <a:off x="7858880" y="1589544"/>
            <a:ext cx="4335967" cy="526845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52DCA60-DD6C-4969-5447-C78B9640E1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22001" y="0"/>
            <a:ext cx="1269999" cy="1269999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2AC443C3-2404-A86A-231F-98C9D4797C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12" y="333574"/>
            <a:ext cx="1405379" cy="72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97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64;p52">
            <a:extLst>
              <a:ext uri="{FF2B5EF4-FFF2-40B4-BE49-F238E27FC236}">
                <a16:creationId xmlns:a16="http://schemas.microsoft.com/office/drawing/2014/main" id="{4DF6C634-D17B-5FE0-005D-DC83FF1DE416}"/>
              </a:ext>
            </a:extLst>
          </p:cNvPr>
          <p:cNvCxnSpPr/>
          <p:nvPr userDrawn="1"/>
        </p:nvCxnSpPr>
        <p:spPr>
          <a:xfrm>
            <a:off x="418907" y="1165671"/>
            <a:ext cx="113541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370AC8E-70AF-C45A-FDCE-EEF60F248658}"/>
              </a:ext>
            </a:extLst>
          </p:cNvPr>
          <p:cNvGrpSpPr/>
          <p:nvPr userDrawn="1"/>
        </p:nvGrpSpPr>
        <p:grpSpPr>
          <a:xfrm>
            <a:off x="10528917" y="0"/>
            <a:ext cx="1452604" cy="862643"/>
            <a:chOff x="10528917" y="0"/>
            <a:chExt cx="1452604" cy="862643"/>
          </a:xfrm>
        </p:grpSpPr>
        <p:sp>
          <p:nvSpPr>
            <p:cNvPr id="5" name="Google Shape;18;p49">
              <a:extLst>
                <a:ext uri="{FF2B5EF4-FFF2-40B4-BE49-F238E27FC236}">
                  <a16:creationId xmlns:a16="http://schemas.microsoft.com/office/drawing/2014/main" id="{3AE2A220-6852-DE0B-C187-FB2AC31C3318}"/>
                </a:ext>
              </a:extLst>
            </p:cNvPr>
            <p:cNvSpPr/>
            <p:nvPr/>
          </p:nvSpPr>
          <p:spPr>
            <a:xfrm>
              <a:off x="10528917" y="198409"/>
              <a:ext cx="1452604" cy="664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23;p49">
              <a:extLst>
                <a:ext uri="{FF2B5EF4-FFF2-40B4-BE49-F238E27FC236}">
                  <a16:creationId xmlns:a16="http://schemas.microsoft.com/office/drawing/2014/main" id="{473F85EB-3FD6-EB9D-90B5-4222EF54A402}"/>
                </a:ext>
              </a:extLst>
            </p:cNvPr>
            <p:cNvSpPr/>
            <p:nvPr/>
          </p:nvSpPr>
          <p:spPr>
            <a:xfrm>
              <a:off x="10528917" y="0"/>
              <a:ext cx="1452604" cy="96657"/>
            </a:xfrm>
            <a:prstGeom prst="rect">
              <a:avLst/>
            </a:prstGeom>
            <a:gradFill>
              <a:gsLst>
                <a:gs pos="0">
                  <a:srgbClr val="034EA2">
                    <a:alpha val="90000"/>
                  </a:srgbClr>
                </a:gs>
                <a:gs pos="100000">
                  <a:srgbClr val="F4812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Picture 10" descr="A blue and orange text on a black background&#10;&#10;Description automatically generated">
              <a:extLst>
                <a:ext uri="{FF2B5EF4-FFF2-40B4-BE49-F238E27FC236}">
                  <a16:creationId xmlns:a16="http://schemas.microsoft.com/office/drawing/2014/main" id="{E8F3359D-59D5-DCEA-3D96-438DC2777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36863" y="370545"/>
              <a:ext cx="1036712" cy="31310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901748-0D62-0213-B550-8A317F619692}"/>
              </a:ext>
            </a:extLst>
          </p:cNvPr>
          <p:cNvSpPr txBox="1"/>
          <p:nvPr userDrawn="1"/>
        </p:nvSpPr>
        <p:spPr>
          <a:xfrm>
            <a:off x="79899" y="6596341"/>
            <a:ext cx="3045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Confidential | © Course5 Intelligence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2A1A332-51D9-0A23-4A42-77BC8FE2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157" y="6578353"/>
            <a:ext cx="389701" cy="233432"/>
          </a:xfrm>
        </p:spPr>
        <p:txBody>
          <a:bodyPr/>
          <a:lstStyle>
            <a:lvl1pPr algn="ctr">
              <a:defRPr kumimoji="0" lang="en-US" sz="800" b="0" i="0" u="none" strike="noStrike" kern="0" cap="none" spc="0" normalizeH="0" baseline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/>
                <a:ea typeface="+mn-ea"/>
                <a:cs typeface="Arial"/>
              </a:defRPr>
            </a:lvl1pPr>
          </a:lstStyle>
          <a:p>
            <a:fld id="{330EA680-D336-4FF7-8B7A-9848BB0A1C3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8ED78-0B9B-CB39-999B-858D6D0C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25" y="232040"/>
            <a:ext cx="10515600" cy="1325563"/>
          </a:xfrm>
        </p:spPr>
        <p:txBody>
          <a:bodyPr anchor="t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209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>
          <p15:clr>
            <a:srgbClr val="FBAE40"/>
          </p15:clr>
        </p15:guide>
        <p15:guide id="2" pos="30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 anchor="ctr"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DE48D-D033-4769-9D28-4495A978085C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A300190-6376-D09E-8452-E64650A4DC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082039"/>
            <a:ext cx="11233150" cy="246221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EED7C-A448-06D8-A462-DCB54408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99" y="365125"/>
            <a:ext cx="11452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1B0F-F864-11AE-DAC8-6462FDEE5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825625"/>
            <a:ext cx="114522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BF789-5D48-4072-3B3D-457B82C68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8300" y="6492874"/>
            <a:ext cx="2865783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40A47-5C3C-437F-A8FC-206CD0B3DAE9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05ED-057D-8DFC-A893-3AE8AA796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87156-488D-30D6-2D50-EC6AF9264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4" y="6492874"/>
            <a:ext cx="27432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01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42" r:id="rId18"/>
    <p:sldLayoutId id="2147483743" r:id="rId19"/>
    <p:sldLayoutId id="2147483744" r:id="rId20"/>
    <p:sldLayoutId id="2147483745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3"/>
        </a:buBlip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232">
          <p15:clr>
            <a:srgbClr val="F26B43"/>
          </p15:clr>
        </p15:guide>
        <p15:guide id="3" pos="7446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4F00FE-8D78-F962-6E71-75D367B0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2292154"/>
            <a:ext cx="4912707" cy="498598"/>
          </a:xfrm>
        </p:spPr>
        <p:txBody>
          <a:bodyPr/>
          <a:lstStyle/>
          <a:p>
            <a:r>
              <a:rPr lang="en-US"/>
              <a:t>Introduction to C5i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D3AD6-6118-ED5A-BC8B-DE4A40536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441999"/>
            <a:ext cx="3935413" cy="1593257"/>
          </a:xfrm>
        </p:spPr>
        <p:txBody>
          <a:bodyPr/>
          <a:lstStyle/>
          <a:p>
            <a:r>
              <a:rPr lang="en-US"/>
              <a:t>Human . AI . Impact</a:t>
            </a:r>
          </a:p>
          <a:p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200"/>
          </a:p>
          <a:p>
            <a:r>
              <a:rPr lang="en-US" sz="120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56853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85252-1414-DD7E-4929-9CBA7633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A3E1-EC70-0D6B-7BFB-B0F1F23CC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402925"/>
            <a:ext cx="10113433" cy="443198"/>
          </a:xfrm>
        </p:spPr>
        <p:txBody>
          <a:bodyPr/>
          <a:lstStyle/>
          <a:p>
            <a:r>
              <a:rPr lang="en-US" sz="3200" b="0">
                <a:latin typeface="Segoe UI Semibold" panose="020B0702040204020203" pitchFamily="34" charset="0"/>
                <a:cs typeface="Segoe UI Semibold" panose="020B0702040204020203" pitchFamily="34" charset="0"/>
              </a:rPr>
              <a:t>About C5i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20644-FF57-A2EA-CB4F-2D7FBE9709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022032"/>
            <a:ext cx="11452225" cy="256224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Driving business impact with the ideal combination of human expertise and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64DFD-C019-0807-2CDE-BDFB90C84EDE}"/>
              </a:ext>
            </a:extLst>
          </p:cNvPr>
          <p:cNvSpPr txBox="1"/>
          <p:nvPr/>
        </p:nvSpPr>
        <p:spPr>
          <a:xfrm>
            <a:off x="106669" y="6526829"/>
            <a:ext cx="47038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All trademarks are acknowledged and for representation purposes only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140" name="Rectangle 4139">
            <a:extLst>
              <a:ext uri="{FF2B5EF4-FFF2-40B4-BE49-F238E27FC236}">
                <a16:creationId xmlns:a16="http://schemas.microsoft.com/office/drawing/2014/main" id="{E3B822CE-09E9-443B-57FC-89E60DDCE4BB}"/>
              </a:ext>
            </a:extLst>
          </p:cNvPr>
          <p:cNvSpPr/>
          <p:nvPr/>
        </p:nvSpPr>
        <p:spPr>
          <a:xfrm>
            <a:off x="377480" y="1970374"/>
            <a:ext cx="3333341" cy="13092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Expertise</a:t>
            </a: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59" name="TextBox 4158">
            <a:extLst>
              <a:ext uri="{FF2B5EF4-FFF2-40B4-BE49-F238E27FC236}">
                <a16:creationId xmlns:a16="http://schemas.microsoft.com/office/drawing/2014/main" id="{F95D99CA-C278-85F2-5376-437A845EF535}"/>
              </a:ext>
            </a:extLst>
          </p:cNvPr>
          <p:cNvSpPr txBox="1"/>
          <p:nvPr/>
        </p:nvSpPr>
        <p:spPr>
          <a:xfrm>
            <a:off x="2650869" y="2419638"/>
            <a:ext cx="900000" cy="51552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Serving </a:t>
            </a:r>
            <a:r>
              <a:rPr lang="en-US" sz="1200" b="1">
                <a:latin typeface="Segoe UI"/>
                <a:ea typeface="Mars Centra" panose="020B0604020202020204" charset="0"/>
                <a:cs typeface="Segoe UI"/>
              </a:rPr>
              <a:t>55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 </a:t>
            </a:r>
            <a:br>
              <a:rPr lang="en-US" sz="1100" b="1">
                <a:latin typeface="Segoe UI"/>
                <a:ea typeface="Mars Centra" panose="020B0604020202020204" charset="0"/>
                <a:cs typeface="Segoe UI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of </a:t>
            </a:r>
            <a:r>
              <a:rPr lang="en-US" sz="1050">
                <a:latin typeface="Segoe UI"/>
                <a:ea typeface="Mars Centra" panose="020B0604020202020204" charset="0"/>
                <a:cs typeface="Segoe UI"/>
              </a:rPr>
              <a:t>the </a:t>
            </a:r>
            <a:r>
              <a:rPr lang="en-US" sz="1050">
                <a:ea typeface="+mn-lt"/>
                <a:cs typeface="+mn-lt"/>
              </a:rPr>
              <a:t>Fortune </a:t>
            </a:r>
            <a:r>
              <a:rPr lang="en-US" sz="1050">
                <a:latin typeface="Segoe UI"/>
                <a:ea typeface="Mars Centra" panose="020B0604020202020204" charset="0"/>
                <a:cs typeface="Segoe UI"/>
              </a:rPr>
              <a:t>500 </a:t>
            </a:r>
            <a:r>
              <a:rPr lang="en-US" sz="1050">
                <a:latin typeface="Segoe UI"/>
                <a:cs typeface="Segoe UI"/>
              </a:rPr>
              <a:t>Clients</a:t>
            </a:r>
            <a:endParaRPr lang="en-IN" sz="900">
              <a:latin typeface="Segoe UI"/>
              <a:cs typeface="Segoe UI"/>
            </a:endParaRPr>
          </a:p>
        </p:txBody>
      </p:sp>
      <p:sp>
        <p:nvSpPr>
          <p:cNvPr id="4160" name="TextBox 4159">
            <a:extLst>
              <a:ext uri="{FF2B5EF4-FFF2-40B4-BE49-F238E27FC236}">
                <a16:creationId xmlns:a16="http://schemas.microsoft.com/office/drawing/2014/main" id="{D7686F33-B1F8-4038-101B-C66422D7197A}"/>
              </a:ext>
            </a:extLst>
          </p:cNvPr>
          <p:cNvSpPr txBox="1"/>
          <p:nvPr/>
        </p:nvSpPr>
        <p:spPr>
          <a:xfrm>
            <a:off x="1594150" y="2419638"/>
            <a:ext cx="900000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rPr>
              <a:t>20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rPr>
              <a:t>00+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rPr>
              <a:t>Global Headcount</a:t>
            </a:r>
            <a:endParaRPr kumimoji="0" lang="en-IN" sz="105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 panose="020B0502040204020203" pitchFamily="34" charset="0"/>
              <a:ea typeface="Mars Centra" panose="020B0604020202020204" charset="0"/>
              <a:cs typeface="Segoe UI" panose="020B0502040204020203" pitchFamily="34" charset="0"/>
            </a:endParaRPr>
          </a:p>
        </p:txBody>
      </p:sp>
      <p:cxnSp>
        <p:nvCxnSpPr>
          <p:cNvPr id="4167" name="Straight Connector 4166">
            <a:extLst>
              <a:ext uri="{FF2B5EF4-FFF2-40B4-BE49-F238E27FC236}">
                <a16:creationId xmlns:a16="http://schemas.microsoft.com/office/drawing/2014/main" id="{853EB74D-CC05-55F4-26FC-8179B14A0ECC}"/>
              </a:ext>
            </a:extLst>
          </p:cNvPr>
          <p:cNvCxnSpPr>
            <a:cxnSpLocks/>
          </p:cNvCxnSpPr>
          <p:nvPr/>
        </p:nvCxnSpPr>
        <p:spPr>
          <a:xfrm>
            <a:off x="1491474" y="2384245"/>
            <a:ext cx="0" cy="57600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8" name="Straight Connector 4167">
            <a:extLst>
              <a:ext uri="{FF2B5EF4-FFF2-40B4-BE49-F238E27FC236}">
                <a16:creationId xmlns:a16="http://schemas.microsoft.com/office/drawing/2014/main" id="{328768A4-47C1-97EF-8353-585DDE208FB4}"/>
              </a:ext>
            </a:extLst>
          </p:cNvPr>
          <p:cNvCxnSpPr>
            <a:cxnSpLocks/>
          </p:cNvCxnSpPr>
          <p:nvPr/>
        </p:nvCxnSpPr>
        <p:spPr>
          <a:xfrm>
            <a:off x="2494150" y="2384245"/>
            <a:ext cx="0" cy="57600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4" name="TextBox 4173">
            <a:extLst>
              <a:ext uri="{FF2B5EF4-FFF2-40B4-BE49-F238E27FC236}">
                <a16:creationId xmlns:a16="http://schemas.microsoft.com/office/drawing/2014/main" id="{65B2CF97-F311-A9B5-0E1B-5CF15C8CAE26}"/>
              </a:ext>
            </a:extLst>
          </p:cNvPr>
          <p:cNvSpPr txBox="1"/>
          <p:nvPr/>
        </p:nvSpPr>
        <p:spPr>
          <a:xfrm>
            <a:off x="408723" y="2419638"/>
            <a:ext cx="900000" cy="5232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20+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Years in the Industry</a:t>
            </a:r>
            <a:endParaRPr lang="en-IN" sz="105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 panose="020B0502040204020203" pitchFamily="34" charset="0"/>
              <a:ea typeface="Mars Centra" panose="020B0604020202020204" charset="0"/>
              <a:cs typeface="Segoe UI" panose="020B0502040204020203" pitchFamily="34" charset="0"/>
            </a:endParaRPr>
          </a:p>
        </p:txBody>
      </p:sp>
      <p:cxnSp>
        <p:nvCxnSpPr>
          <p:cNvPr id="4175" name="Straight Connector 4174">
            <a:extLst>
              <a:ext uri="{FF2B5EF4-FFF2-40B4-BE49-F238E27FC236}">
                <a16:creationId xmlns:a16="http://schemas.microsoft.com/office/drawing/2014/main" id="{50C63015-621F-EB2A-587B-72C9F068B199}"/>
              </a:ext>
            </a:extLst>
          </p:cNvPr>
          <p:cNvCxnSpPr>
            <a:cxnSpLocks/>
          </p:cNvCxnSpPr>
          <p:nvPr/>
        </p:nvCxnSpPr>
        <p:spPr>
          <a:xfrm>
            <a:off x="377480" y="3279658"/>
            <a:ext cx="3333341" cy="0"/>
          </a:xfrm>
          <a:prstGeom prst="line">
            <a:avLst/>
          </a:prstGeom>
          <a:ln w="19050">
            <a:solidFill>
              <a:srgbClr val="680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3E9BBE-98B3-0486-55C2-2DA464F686D2}"/>
              </a:ext>
            </a:extLst>
          </p:cNvPr>
          <p:cNvGrpSpPr/>
          <p:nvPr/>
        </p:nvGrpSpPr>
        <p:grpSpPr>
          <a:xfrm>
            <a:off x="445300" y="3397109"/>
            <a:ext cx="3173513" cy="2921471"/>
            <a:chOff x="445300" y="3397109"/>
            <a:chExt cx="3173513" cy="2921471"/>
          </a:xfrm>
        </p:grpSpPr>
        <p:sp>
          <p:nvSpPr>
            <p:cNvPr id="4161" name="TextBox 4160">
              <a:extLst>
                <a:ext uri="{FF2B5EF4-FFF2-40B4-BE49-F238E27FC236}">
                  <a16:creationId xmlns:a16="http://schemas.microsoft.com/office/drawing/2014/main" id="{0AC076C9-84B6-2C9E-129A-AF46FE3BF703}"/>
                </a:ext>
              </a:extLst>
            </p:cNvPr>
            <p:cNvSpPr txBox="1"/>
            <p:nvPr/>
          </p:nvSpPr>
          <p:spPr>
            <a:xfrm>
              <a:off x="466708" y="3397109"/>
              <a:ext cx="2780305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defRPr/>
              </a:pPr>
              <a:r>
                <a:rPr lang="en-US" sz="1200" b="1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Key Clients include</a:t>
              </a:r>
            </a:p>
          </p:txBody>
        </p:sp>
        <p:cxnSp>
          <p:nvCxnSpPr>
            <p:cNvPr id="4164" name="Straight Connector 4163">
              <a:extLst>
                <a:ext uri="{FF2B5EF4-FFF2-40B4-BE49-F238E27FC236}">
                  <a16:creationId xmlns:a16="http://schemas.microsoft.com/office/drawing/2014/main" id="{F2F298C1-B5FF-650E-84D8-EAC6DF1B8654}"/>
                </a:ext>
              </a:extLst>
            </p:cNvPr>
            <p:cNvCxnSpPr>
              <a:cxnSpLocks/>
            </p:cNvCxnSpPr>
            <p:nvPr/>
          </p:nvCxnSpPr>
          <p:spPr>
            <a:xfrm>
              <a:off x="2031213" y="3826788"/>
              <a:ext cx="0" cy="1132499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6C1F74E-4DA6-78BF-7C09-3C41E1265CEF}"/>
                </a:ext>
              </a:extLst>
            </p:cNvPr>
            <p:cNvGrpSpPr/>
            <p:nvPr/>
          </p:nvGrpSpPr>
          <p:grpSpPr>
            <a:xfrm>
              <a:off x="549927" y="5229291"/>
              <a:ext cx="2988446" cy="1089289"/>
              <a:chOff x="549927" y="5076891"/>
              <a:chExt cx="2988446" cy="108928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C094801-FE19-F5EB-78EE-FB57824081A2}"/>
                  </a:ext>
                </a:extLst>
              </p:cNvPr>
              <p:cNvGrpSpPr/>
              <p:nvPr/>
            </p:nvGrpSpPr>
            <p:grpSpPr>
              <a:xfrm>
                <a:off x="549927" y="5076891"/>
                <a:ext cx="1368000" cy="1089289"/>
                <a:chOff x="523858" y="5076891"/>
                <a:chExt cx="1368000" cy="1089289"/>
              </a:xfrm>
            </p:grpSpPr>
            <p:sp>
              <p:nvSpPr>
                <p:cNvPr id="4162" name="TextBox 4161">
                  <a:extLst>
                    <a:ext uri="{FF2B5EF4-FFF2-40B4-BE49-F238E27FC236}">
                      <a16:creationId xmlns:a16="http://schemas.microsoft.com/office/drawing/2014/main" id="{07A82599-B368-4221-377D-32CC349AEEDE}"/>
                    </a:ext>
                  </a:extLst>
                </p:cNvPr>
                <p:cNvSpPr txBox="1"/>
                <p:nvPr/>
              </p:nvSpPr>
              <p:spPr>
                <a:xfrm>
                  <a:off x="523858" y="5076891"/>
                  <a:ext cx="1368000" cy="106182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defRPr/>
                  </a:pPr>
                  <a:r>
                    <a:rPr lang="en-US" sz="2400" b="1">
                      <a:solidFill>
                        <a:schemeClr val="bg2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5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of the Top 10 </a:t>
                  </a:r>
                  <a:b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</a:b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pharmaceutical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companies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in the</a:t>
                  </a:r>
                  <a:r>
                    <a:rPr lang="en-GB" sz="1050"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 </a:t>
                  </a: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world</a:t>
                  </a:r>
                  <a:endParaRPr kumimoji="0" lang="en-IN" sz="105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</p:txBody>
            </p:sp>
            <p:pic>
              <p:nvPicPr>
                <p:cNvPr id="4165" name="Graphic 4164" descr="Heart with pulse outline">
                  <a:extLst>
                    <a:ext uri="{FF2B5EF4-FFF2-40B4-BE49-F238E27FC236}">
                      <a16:creationId xmlns:a16="http://schemas.microsoft.com/office/drawing/2014/main" id="{A0A8FC9A-D4B1-07CB-27B6-5541E2BEC4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45261" y="5803009"/>
                  <a:ext cx="396000" cy="363171"/>
                </a:xfrm>
                <a:prstGeom prst="rect">
                  <a:avLst/>
                </a:prstGeom>
              </p:spPr>
            </p:pic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3E7CD1E-9B85-958B-F6B8-3D8226F645B1}"/>
                  </a:ext>
                </a:extLst>
              </p:cNvPr>
              <p:cNvGrpSpPr/>
              <p:nvPr/>
            </p:nvGrpSpPr>
            <p:grpSpPr>
              <a:xfrm>
                <a:off x="2144498" y="5076891"/>
                <a:ext cx="1393875" cy="1089289"/>
                <a:chOff x="2118429" y="5076891"/>
                <a:chExt cx="1393875" cy="1089289"/>
              </a:xfrm>
            </p:grpSpPr>
            <p:sp>
              <p:nvSpPr>
                <p:cNvPr id="4163" name="TextBox 4162">
                  <a:extLst>
                    <a:ext uri="{FF2B5EF4-FFF2-40B4-BE49-F238E27FC236}">
                      <a16:creationId xmlns:a16="http://schemas.microsoft.com/office/drawing/2014/main" id="{52ED284D-CFE7-4D02-8336-5F7E3554D6EE}"/>
                    </a:ext>
                  </a:extLst>
                </p:cNvPr>
                <p:cNvSpPr txBox="1"/>
                <p:nvPr/>
              </p:nvSpPr>
              <p:spPr>
                <a:xfrm>
                  <a:off x="2118429" y="5076891"/>
                  <a:ext cx="1368000" cy="900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R="0" lvl="0" indent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2400" b="1">
                      <a:solidFill>
                        <a:schemeClr val="bg2"/>
                      </a:solidFill>
                      <a:latin typeface="Segoe UI"/>
                      <a:cs typeface="Segoe UI"/>
                    </a:rPr>
                    <a:t>3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/>
                      <a:ea typeface="Mars Centra" panose="020B0604020202020204" charset="0"/>
                      <a:cs typeface="Segoe UI"/>
                    </a:rPr>
                    <a:t>of Top 10 Tech </a:t>
                  </a:r>
                  <a:r>
                    <a:rPr lang="en-US" sz="1200" b="1">
                      <a:latin typeface="Segoe UI"/>
                      <a:ea typeface="Mars Centra" panose="020B0604020202020204" charset="0"/>
                      <a:cs typeface="Segoe UI"/>
                    </a:rPr>
                    <a:t>Hardware</a:t>
                  </a:r>
                  <a:endParaRPr lang="en-US" sz="1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/>
                      <a:ea typeface="Mars Centra" panose="020B0604020202020204" charset="0"/>
                      <a:cs typeface="Segoe UI"/>
                    </a:rPr>
                    <a:t>companies</a:t>
                  </a:r>
                  <a:endParaRPr kumimoji="0" lang="en-IN" sz="105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/>
                    <a:ea typeface="Mars Centra" panose="020B0604020202020204" charset="0"/>
                    <a:cs typeface="Segoe UI"/>
                  </a:endParaRPr>
                </a:p>
              </p:txBody>
            </p:sp>
            <p:pic>
              <p:nvPicPr>
                <p:cNvPr id="4166" name="Graphic 4165" descr="Processor outline">
                  <a:extLst>
                    <a:ext uri="{FF2B5EF4-FFF2-40B4-BE49-F238E27FC236}">
                      <a16:creationId xmlns:a16="http://schemas.microsoft.com/office/drawing/2014/main" id="{103A1C62-E5F4-F08A-DA92-0677E886F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16304" y="5803009"/>
                  <a:ext cx="396000" cy="363171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4169" name="Straight Connector 4168">
              <a:extLst>
                <a:ext uri="{FF2B5EF4-FFF2-40B4-BE49-F238E27FC236}">
                  <a16:creationId xmlns:a16="http://schemas.microsoft.com/office/drawing/2014/main" id="{A165DEA1-E1FF-A60B-19F7-E9DCE3B329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300" y="5049287"/>
              <a:ext cx="1495913" cy="0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5D4AE96-62FF-103A-259F-726220219C31}"/>
                </a:ext>
              </a:extLst>
            </p:cNvPr>
            <p:cNvGrpSpPr/>
            <p:nvPr/>
          </p:nvGrpSpPr>
          <p:grpSpPr>
            <a:xfrm>
              <a:off x="549927" y="3837021"/>
              <a:ext cx="2988446" cy="1061829"/>
              <a:chOff x="549927" y="3837021"/>
              <a:chExt cx="2988446" cy="1061829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70BFD99-9472-959C-E038-8DFAA8154897}"/>
                  </a:ext>
                </a:extLst>
              </p:cNvPr>
              <p:cNvGrpSpPr/>
              <p:nvPr/>
            </p:nvGrpSpPr>
            <p:grpSpPr>
              <a:xfrm>
                <a:off x="2144498" y="3837021"/>
                <a:ext cx="1393875" cy="1061829"/>
                <a:chOff x="2118429" y="3837021"/>
                <a:chExt cx="1393875" cy="1061829"/>
              </a:xfrm>
            </p:grpSpPr>
            <p:pic>
              <p:nvPicPr>
                <p:cNvPr id="4170" name="Graphic 4169" descr="Shopping cart outline">
                  <a:extLst>
                    <a:ext uri="{FF2B5EF4-FFF2-40B4-BE49-F238E27FC236}">
                      <a16:creationId xmlns:a16="http://schemas.microsoft.com/office/drawing/2014/main" id="{87AF2E32-2849-CCDE-6368-87DA38D174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16304" y="4417836"/>
                  <a:ext cx="396000" cy="363171"/>
                </a:xfrm>
                <a:prstGeom prst="rect">
                  <a:avLst/>
                </a:prstGeom>
              </p:spPr>
            </p:pic>
            <p:sp>
              <p:nvSpPr>
                <p:cNvPr id="4173" name="TextBox 4172">
                  <a:extLst>
                    <a:ext uri="{FF2B5EF4-FFF2-40B4-BE49-F238E27FC236}">
                      <a16:creationId xmlns:a16="http://schemas.microsoft.com/office/drawing/2014/main" id="{29E379AB-00BA-68F3-2419-E4E0AFE44D85}"/>
                    </a:ext>
                  </a:extLst>
                </p:cNvPr>
                <p:cNvSpPr txBox="1"/>
                <p:nvPr/>
              </p:nvSpPr>
              <p:spPr>
                <a:xfrm>
                  <a:off x="2118429" y="3837021"/>
                  <a:ext cx="895882" cy="106182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defRPr/>
                  </a:pPr>
                  <a:r>
                    <a:rPr lang="en-US" sz="2400" b="1">
                      <a:solidFill>
                        <a:schemeClr val="bg2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6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of the Top 10 CPG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Companies in the world </a:t>
                  </a:r>
                  <a:endParaRPr kumimoji="0" lang="en-IN" sz="10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8FE927E-6364-2AAF-BBC2-D81D1C3B7073}"/>
                  </a:ext>
                </a:extLst>
              </p:cNvPr>
              <p:cNvGrpSpPr/>
              <p:nvPr/>
            </p:nvGrpSpPr>
            <p:grpSpPr>
              <a:xfrm>
                <a:off x="549927" y="3837021"/>
                <a:ext cx="1368000" cy="1038746"/>
                <a:chOff x="523858" y="3837021"/>
                <a:chExt cx="1368000" cy="1038746"/>
              </a:xfrm>
            </p:grpSpPr>
            <p:pic>
              <p:nvPicPr>
                <p:cNvPr id="4171" name="Graphic 4170" descr="Bar graph with upward trend outline">
                  <a:extLst>
                    <a:ext uri="{FF2B5EF4-FFF2-40B4-BE49-F238E27FC236}">
                      <a16:creationId xmlns:a16="http://schemas.microsoft.com/office/drawing/2014/main" id="{98C18CC6-7919-633D-7105-66A0E41B50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45261" y="4458648"/>
                  <a:ext cx="396000" cy="363171"/>
                </a:xfrm>
                <a:prstGeom prst="rect">
                  <a:avLst/>
                </a:prstGeom>
              </p:spPr>
            </p:pic>
            <p:sp>
              <p:nvSpPr>
                <p:cNvPr id="4172" name="TextBox 4171">
                  <a:extLst>
                    <a:ext uri="{FF2B5EF4-FFF2-40B4-BE49-F238E27FC236}">
                      <a16:creationId xmlns:a16="http://schemas.microsoft.com/office/drawing/2014/main" id="{0C7F0708-F975-D8B8-782D-097F919A2C76}"/>
                    </a:ext>
                  </a:extLst>
                </p:cNvPr>
                <p:cNvSpPr txBox="1"/>
                <p:nvPr/>
              </p:nvSpPr>
              <p:spPr>
                <a:xfrm>
                  <a:off x="523858" y="3837021"/>
                  <a:ext cx="1368000" cy="10387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4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of the Top 7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companies in </a:t>
                  </a:r>
                  <a:b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</a:b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the world by </a:t>
                  </a:r>
                  <a:b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</a:b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market cap</a:t>
                  </a:r>
                  <a:endParaRPr kumimoji="0" lang="en-IN" sz="105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</p:txBody>
            </p:sp>
          </p:grp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62F4565-7C83-2502-1298-C482E8AF2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1213" y="5139287"/>
              <a:ext cx="0" cy="1134000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79685A4-2C0F-CBC3-63E2-35FE4A766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21213" y="5049287"/>
              <a:ext cx="1497600" cy="0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: Single Corner Snipped 36">
            <a:extLst>
              <a:ext uri="{FF2B5EF4-FFF2-40B4-BE49-F238E27FC236}">
                <a16:creationId xmlns:a16="http://schemas.microsoft.com/office/drawing/2014/main" id="{FDF695B2-857E-04DE-79C9-A47EE18EE6F7}"/>
              </a:ext>
            </a:extLst>
          </p:cNvPr>
          <p:cNvSpPr/>
          <p:nvPr/>
        </p:nvSpPr>
        <p:spPr>
          <a:xfrm>
            <a:off x="377480" y="1509760"/>
            <a:ext cx="3333340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Key Facts</a:t>
            </a:r>
          </a:p>
        </p:txBody>
      </p:sp>
      <p:sp>
        <p:nvSpPr>
          <p:cNvPr id="38" name="Rectangle: Single Corner Snipped 37">
            <a:extLst>
              <a:ext uri="{FF2B5EF4-FFF2-40B4-BE49-F238E27FC236}">
                <a16:creationId xmlns:a16="http://schemas.microsoft.com/office/drawing/2014/main" id="{74B7EA0C-2305-F460-056F-A9111D569278}"/>
              </a:ext>
            </a:extLst>
          </p:cNvPr>
          <p:cNvSpPr/>
          <p:nvPr/>
        </p:nvSpPr>
        <p:spPr>
          <a:xfrm>
            <a:off x="3873155" y="1503660"/>
            <a:ext cx="3333340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Focus Areas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0EF5CE-7F25-7DF9-1C20-EECCC6E18E71}"/>
              </a:ext>
            </a:extLst>
          </p:cNvPr>
          <p:cNvSpPr/>
          <p:nvPr/>
        </p:nvSpPr>
        <p:spPr>
          <a:xfrm>
            <a:off x="3873155" y="1970374"/>
            <a:ext cx="3333341" cy="13092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Rectangle: Single Corner Snipped 41">
            <a:extLst>
              <a:ext uri="{FF2B5EF4-FFF2-40B4-BE49-F238E27FC236}">
                <a16:creationId xmlns:a16="http://schemas.microsoft.com/office/drawing/2014/main" id="{196ACC31-183F-EBD3-D474-A43768C3B7C5}"/>
              </a:ext>
            </a:extLst>
          </p:cNvPr>
          <p:cNvSpPr/>
          <p:nvPr/>
        </p:nvSpPr>
        <p:spPr>
          <a:xfrm>
            <a:off x="3873155" y="3429000"/>
            <a:ext cx="3333340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Capability Towers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8CC354-2B48-25FE-3D80-49BE972B9925}"/>
              </a:ext>
            </a:extLst>
          </p:cNvPr>
          <p:cNvSpPr/>
          <p:nvPr/>
        </p:nvSpPr>
        <p:spPr>
          <a:xfrm>
            <a:off x="3873154" y="3933794"/>
            <a:ext cx="3333341" cy="23847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15D2409-CFAB-AE67-9962-AEE2964D5AC4}"/>
              </a:ext>
            </a:extLst>
          </p:cNvPr>
          <p:cNvGrpSpPr/>
          <p:nvPr/>
        </p:nvGrpSpPr>
        <p:grpSpPr>
          <a:xfrm>
            <a:off x="4009824" y="3975772"/>
            <a:ext cx="3060000" cy="2298511"/>
            <a:chOff x="4045935" y="4032922"/>
            <a:chExt cx="3060000" cy="229851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0A85F0D-CDC5-E933-6790-888CCA883076}"/>
                </a:ext>
              </a:extLst>
            </p:cNvPr>
            <p:cNvSpPr/>
            <p:nvPr/>
          </p:nvSpPr>
          <p:spPr>
            <a:xfrm>
              <a:off x="4045935" y="5731204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BI Management, Migration and Support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2DCECAF-2E3E-B825-1BDB-598FA1387F58}"/>
                </a:ext>
              </a:extLst>
            </p:cNvPr>
            <p:cNvSpPr/>
            <p:nvPr/>
          </p:nvSpPr>
          <p:spPr>
            <a:xfrm>
              <a:off x="4045935" y="4032922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Information Management (Data Modelling, </a:t>
              </a:r>
              <a:r>
                <a:rPr kumimoji="0" lang="en-IN" sz="1000" i="0" u="none" strike="noStrike" kern="120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Engg</a:t>
              </a: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, Pipeline and Governance)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620B699-81A1-15F5-7943-55F5AE20FB85}"/>
                </a:ext>
              </a:extLst>
            </p:cNvPr>
            <p:cNvSpPr/>
            <p:nvPr/>
          </p:nvSpPr>
          <p:spPr>
            <a:xfrm>
              <a:off x="4045935" y="4372579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5720" rIns="3600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Data Science &amp; </a:t>
              </a:r>
              <a:r>
                <a:rPr kumimoji="0" lang="en-IN" sz="1000" i="0" u="none" strike="noStrike" kern="120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XOps</a:t>
              </a:r>
              <a:endParaRPr kumimoji="0" lang="en-I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1535D3E-7988-339E-7062-53F8B8A601DC}"/>
                </a:ext>
              </a:extLst>
            </p:cNvPr>
            <p:cNvSpPr/>
            <p:nvPr/>
          </p:nvSpPr>
          <p:spPr>
            <a:xfrm>
              <a:off x="4045935" y="4712235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AI Solutions &amp; Accelerators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D61B88B-B63C-3ED5-83C5-1FA6E04EB133}"/>
                </a:ext>
              </a:extLst>
            </p:cNvPr>
            <p:cNvSpPr/>
            <p:nvPr/>
          </p:nvSpPr>
          <p:spPr>
            <a:xfrm>
              <a:off x="4045935" y="5051891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Generative &amp; Agentic AI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1C5DA8E-C119-6E96-929C-CE10627ECB26}"/>
                </a:ext>
              </a:extLst>
            </p:cNvPr>
            <p:cNvSpPr/>
            <p:nvPr/>
          </p:nvSpPr>
          <p:spPr>
            <a:xfrm>
              <a:off x="4045935" y="5391548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Data Infrastructure Modernisation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FC59F87-824F-7C2A-65BC-8DD63FD9B0A0}"/>
                </a:ext>
              </a:extLst>
            </p:cNvPr>
            <p:cNvSpPr/>
            <p:nvPr/>
          </p:nvSpPr>
          <p:spPr>
            <a:xfrm>
              <a:off x="4045935" y="6070859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Decision Intelligence Advisory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7325E11-9729-B95E-4B11-15710A7908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4333038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4C9A366-B579-6E74-22CE-8E0C91ACDD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4672694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E13B960-C302-5EB2-9769-D67AA3C16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5012350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1424DE0-1FB6-0067-AD18-234C0F77D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5352007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09EB566-1A3F-B597-EC8D-78DA9511E6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5691663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EF51DAA-D8CC-76D8-025B-4256DDDCB9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6031319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E6FED1A-7B30-CAD8-7EB7-2EE949DBF0DE}"/>
              </a:ext>
            </a:extLst>
          </p:cNvPr>
          <p:cNvGrpSpPr/>
          <p:nvPr/>
        </p:nvGrpSpPr>
        <p:grpSpPr>
          <a:xfrm>
            <a:off x="4008725" y="2507509"/>
            <a:ext cx="3117148" cy="359422"/>
            <a:chOff x="4084925" y="2524562"/>
            <a:chExt cx="3117148" cy="359422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91F8D9A-BFB1-5B49-D563-625D84AE125F}"/>
                </a:ext>
              </a:extLst>
            </p:cNvPr>
            <p:cNvSpPr/>
            <p:nvPr/>
          </p:nvSpPr>
          <p:spPr>
            <a:xfrm>
              <a:off x="4324646" y="2524562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Marketing &amp; Sales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8824879-69FD-6811-1306-89591DC1862B}"/>
                </a:ext>
              </a:extLst>
            </p:cNvPr>
            <p:cNvSpPr/>
            <p:nvPr/>
          </p:nvSpPr>
          <p:spPr>
            <a:xfrm>
              <a:off x="5906073" y="2524562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Commercial Analytics</a:t>
              </a:r>
            </a:p>
          </p:txBody>
        </p:sp>
        <p:pic>
          <p:nvPicPr>
            <p:cNvPr id="109" name="Graphic 108" descr="Circle with left arrow with solid fill">
              <a:extLst>
                <a:ext uri="{FF2B5EF4-FFF2-40B4-BE49-F238E27FC236}">
                  <a16:creationId xmlns:a16="http://schemas.microsoft.com/office/drawing/2014/main" id="{DFA515A7-375A-AB8D-04D4-76B0944D86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84925" y="2621735"/>
              <a:ext cx="180000" cy="165077"/>
            </a:xfrm>
            <a:prstGeom prst="rect">
              <a:avLst/>
            </a:prstGeom>
          </p:spPr>
        </p:pic>
        <p:pic>
          <p:nvPicPr>
            <p:cNvPr id="110" name="Graphic 109" descr="Circle with left arrow with solid fill">
              <a:extLst>
                <a:ext uri="{FF2B5EF4-FFF2-40B4-BE49-F238E27FC236}">
                  <a16:creationId xmlns:a16="http://schemas.microsoft.com/office/drawing/2014/main" id="{37E0850D-46D9-D3B5-A44C-86FF4DFD57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685445" y="2621735"/>
              <a:ext cx="180000" cy="165077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A96B904-DAAC-488C-548A-D7CFF04C048E}"/>
              </a:ext>
            </a:extLst>
          </p:cNvPr>
          <p:cNvGrpSpPr/>
          <p:nvPr/>
        </p:nvGrpSpPr>
        <p:grpSpPr>
          <a:xfrm>
            <a:off x="4008725" y="2969671"/>
            <a:ext cx="3117148" cy="230832"/>
            <a:chOff x="4084925" y="3017296"/>
            <a:chExt cx="3117148" cy="230832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A9DC401-7DDB-B663-4F74-701935C38B18}"/>
                </a:ext>
              </a:extLst>
            </p:cNvPr>
            <p:cNvSpPr/>
            <p:nvPr/>
          </p:nvSpPr>
          <p:spPr>
            <a:xfrm>
              <a:off x="4324646" y="3017296"/>
              <a:ext cx="1296000" cy="230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Supply Chain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744B29F-28B2-DB07-BCF1-C3C43DF5BD9B}"/>
                </a:ext>
              </a:extLst>
            </p:cNvPr>
            <p:cNvSpPr/>
            <p:nvPr/>
          </p:nvSpPr>
          <p:spPr>
            <a:xfrm>
              <a:off x="5906073" y="3017296"/>
              <a:ext cx="1296000" cy="230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Enterprise AI</a:t>
              </a:r>
            </a:p>
          </p:txBody>
        </p:sp>
        <p:pic>
          <p:nvPicPr>
            <p:cNvPr id="111" name="Graphic 110" descr="Circle with left arrow with solid fill">
              <a:extLst>
                <a:ext uri="{FF2B5EF4-FFF2-40B4-BE49-F238E27FC236}">
                  <a16:creationId xmlns:a16="http://schemas.microsoft.com/office/drawing/2014/main" id="{7C9F7C3E-E817-D073-2ED4-EE20F0B88F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84925" y="3050175"/>
              <a:ext cx="180000" cy="165077"/>
            </a:xfrm>
            <a:prstGeom prst="rect">
              <a:avLst/>
            </a:prstGeom>
          </p:spPr>
        </p:pic>
        <p:pic>
          <p:nvPicPr>
            <p:cNvPr id="112" name="Graphic 111" descr="Circle with left arrow with solid fill">
              <a:extLst>
                <a:ext uri="{FF2B5EF4-FFF2-40B4-BE49-F238E27FC236}">
                  <a16:creationId xmlns:a16="http://schemas.microsoft.com/office/drawing/2014/main" id="{FBA7BF42-7E16-C133-DFD8-666EF90AAB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685445" y="3050175"/>
              <a:ext cx="180000" cy="165077"/>
            </a:xfrm>
            <a:prstGeom prst="rect">
              <a:avLst/>
            </a:prstGeom>
          </p:spPr>
        </p:pic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8860336-A9B9-5A7A-2CDF-2F7750696EEE}"/>
              </a:ext>
            </a:extLst>
          </p:cNvPr>
          <p:cNvGrpSpPr/>
          <p:nvPr/>
        </p:nvGrpSpPr>
        <p:grpSpPr>
          <a:xfrm>
            <a:off x="4008725" y="2045348"/>
            <a:ext cx="3117148" cy="359422"/>
            <a:chOff x="4084925" y="2045348"/>
            <a:chExt cx="3117148" cy="359422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3AAD39C-2C88-C874-1B53-4E9E1C0C28B8}"/>
                </a:ext>
              </a:extLst>
            </p:cNvPr>
            <p:cNvSpPr/>
            <p:nvPr/>
          </p:nvSpPr>
          <p:spPr>
            <a:xfrm>
              <a:off x="4324646" y="2045348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Customer &amp; Omnichannel</a:t>
              </a:r>
            </a:p>
          </p:txBody>
        </p:sp>
        <p:pic>
          <p:nvPicPr>
            <p:cNvPr id="107" name="Graphic 106" descr="Circle with left arrow with solid fill">
              <a:extLst>
                <a:ext uri="{FF2B5EF4-FFF2-40B4-BE49-F238E27FC236}">
                  <a16:creationId xmlns:a16="http://schemas.microsoft.com/office/drawing/2014/main" id="{E31C9CFF-4BEF-AE63-E8EF-0C0A81D471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84925" y="2142521"/>
              <a:ext cx="180000" cy="165077"/>
            </a:xfrm>
            <a:prstGeom prst="rect">
              <a:avLst/>
            </a:prstGeom>
          </p:spPr>
        </p:pic>
        <p:pic>
          <p:nvPicPr>
            <p:cNvPr id="108" name="Graphic 107" descr="Circle with left arrow with solid fill">
              <a:extLst>
                <a:ext uri="{FF2B5EF4-FFF2-40B4-BE49-F238E27FC236}">
                  <a16:creationId xmlns:a16="http://schemas.microsoft.com/office/drawing/2014/main" id="{56FABD76-1561-7E29-0D81-A677DEA994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685445" y="2142521"/>
              <a:ext cx="180000" cy="165077"/>
            </a:xfrm>
            <a:prstGeom prst="rect">
              <a:avLst/>
            </a:prstGeom>
          </p:spPr>
        </p:pic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1CE15F4-4D1E-EAF9-3A4C-C646B508347E}"/>
                </a:ext>
              </a:extLst>
            </p:cNvPr>
            <p:cNvSpPr/>
            <p:nvPr/>
          </p:nvSpPr>
          <p:spPr>
            <a:xfrm>
              <a:off x="5906073" y="2045348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People Analytics</a:t>
              </a:r>
            </a:p>
          </p:txBody>
        </p:sp>
      </p:grp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5345BCFC-A818-2CAC-7503-D532A77D5A10}"/>
              </a:ext>
            </a:extLst>
          </p:cNvPr>
          <p:cNvSpPr/>
          <p:nvPr/>
        </p:nvSpPr>
        <p:spPr>
          <a:xfrm>
            <a:off x="7368829" y="1503660"/>
            <a:ext cx="4451696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Awards &amp; Accolades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16163-C32B-FCDE-3D03-4DDC26FEE070}"/>
              </a:ext>
            </a:extLst>
          </p:cNvPr>
          <p:cNvSpPr/>
          <p:nvPr/>
        </p:nvSpPr>
        <p:spPr>
          <a:xfrm>
            <a:off x="7368829" y="1970373"/>
            <a:ext cx="4451696" cy="4348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2D9794-066C-49C2-2E89-D4CD7CDC30B0}"/>
              </a:ext>
            </a:extLst>
          </p:cNvPr>
          <p:cNvCxnSpPr>
            <a:cxnSpLocks/>
          </p:cNvCxnSpPr>
          <p:nvPr/>
        </p:nvCxnSpPr>
        <p:spPr>
          <a:xfrm>
            <a:off x="7542677" y="3028843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2BA1B1-DFAD-3905-13E4-A1E440AF6306}"/>
              </a:ext>
            </a:extLst>
          </p:cNvPr>
          <p:cNvCxnSpPr>
            <a:cxnSpLocks/>
          </p:cNvCxnSpPr>
          <p:nvPr/>
        </p:nvCxnSpPr>
        <p:spPr>
          <a:xfrm>
            <a:off x="7542677" y="4066763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88CFC1-8D74-E1D8-9E15-E7D09A07157B}"/>
              </a:ext>
            </a:extLst>
          </p:cNvPr>
          <p:cNvCxnSpPr>
            <a:cxnSpLocks/>
          </p:cNvCxnSpPr>
          <p:nvPr/>
        </p:nvCxnSpPr>
        <p:spPr>
          <a:xfrm>
            <a:off x="7542677" y="5137729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9BA3D5-A20E-100A-4DB0-9648A94DF321}"/>
              </a:ext>
            </a:extLst>
          </p:cNvPr>
          <p:cNvGrpSpPr/>
          <p:nvPr/>
        </p:nvGrpSpPr>
        <p:grpSpPr>
          <a:xfrm>
            <a:off x="7532789" y="1968717"/>
            <a:ext cx="4272232" cy="1037508"/>
            <a:chOff x="7796018" y="3351447"/>
            <a:chExt cx="4075576" cy="10375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B42DF9-D5DB-F55F-9D6F-5ADE3DD0D0A8}"/>
                </a:ext>
              </a:extLst>
            </p:cNvPr>
            <p:cNvSpPr txBox="1"/>
            <p:nvPr/>
          </p:nvSpPr>
          <p:spPr>
            <a:xfrm>
              <a:off x="7796018" y="3542569"/>
              <a:ext cx="3811429" cy="8463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900" b="0" i="0" u="none" strike="noStrike">
                  <a:solidFill>
                    <a:prstClr val="black"/>
                  </a:solidFill>
                  <a:effectLst/>
                  <a:latin typeface="Segoe UI"/>
                  <a:cs typeface="Segoe UI"/>
                </a:defRPr>
              </a:lvl1pPr>
            </a:lstStyle>
            <a:p>
              <a:r>
                <a:rPr lang="en-US" b="1"/>
                <a:t>Magic Quadrant for Supply Chain Planning Solutions</a:t>
              </a:r>
            </a:p>
            <a:p>
              <a:r>
                <a:rPr lang="en-US" b="1"/>
                <a:t>Market Guide for Augmented Analytics </a:t>
              </a:r>
            </a:p>
            <a:p>
              <a:r>
                <a:rPr lang="en-US" b="1"/>
                <a:t>Market Guide for Digital Shelf Analytics</a:t>
              </a:r>
            </a:p>
            <a:p>
              <a:r>
                <a:rPr lang="en-US" b="1"/>
                <a:t>Toolkit for AI, Supply Chain, GenAI &amp; Digital Commerce</a:t>
              </a:r>
            </a:p>
            <a:p>
              <a:r>
                <a:rPr lang="en-US" b="1"/>
                <a:t>Niche Player - Magic Quadrant™ for Marketing Mix Modeling Solutions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721897-45AB-424A-1CD4-DD8A45175F4C}"/>
                </a:ext>
              </a:extLst>
            </p:cNvPr>
            <p:cNvSpPr txBox="1"/>
            <p:nvPr/>
          </p:nvSpPr>
          <p:spPr>
            <a:xfrm>
              <a:off x="7803594" y="3351447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fontAlgn="ctr">
                <a:spcBef>
                  <a:spcPts val="300"/>
                </a:spcBef>
                <a:defRPr/>
              </a:pPr>
              <a:r>
                <a:rPr lang="en-US" sz="1200">
                  <a:solidFill>
                    <a:srgbClr val="6800E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Gartner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25F2114-5ECE-10AD-7E8D-07C21B8B04ED}"/>
              </a:ext>
            </a:extLst>
          </p:cNvPr>
          <p:cNvGrpSpPr/>
          <p:nvPr/>
        </p:nvGrpSpPr>
        <p:grpSpPr>
          <a:xfrm>
            <a:off x="7532789" y="3035921"/>
            <a:ext cx="4264291" cy="1183502"/>
            <a:chOff x="7756259" y="2016981"/>
            <a:chExt cx="4068001" cy="118350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9A78E1-F969-00D1-41DD-CA11E9CBA6FA}"/>
                </a:ext>
              </a:extLst>
            </p:cNvPr>
            <p:cNvSpPr txBox="1"/>
            <p:nvPr/>
          </p:nvSpPr>
          <p:spPr>
            <a:xfrm>
              <a:off x="7756259" y="2189950"/>
              <a:ext cx="3953950" cy="101053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000" b="0" i="0" u="none" strike="noStrike">
                  <a:effectLst/>
                  <a:latin typeface="Segoe UI" panose="020B0502040204020203" pitchFamily="34" charset="0"/>
                  <a:ea typeface="Mars Centra" panose="020B0604020202020204" charset="0"/>
                  <a:cs typeface="Segoe UI" panose="020B0502040204020203" pitchFamily="34" charset="0"/>
                </a:defRPr>
              </a:lvl1pPr>
            </a:lstStyle>
            <a:p>
              <a:pPr>
                <a:buNone/>
                <a:defRPr/>
              </a:pP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Marketing Measurement And Optimization Wave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, Q1 2026 </a:t>
              </a:r>
            </a:p>
            <a:p>
              <a:pPr>
                <a:buNone/>
                <a:defRPr/>
              </a:pP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Marketing Measurement And Optimization Landscape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, Q3 2025 </a:t>
              </a:r>
              <a:endParaRPr lang="en-US">
                <a:solidFill>
                  <a:prstClr val="black"/>
                </a:solidFill>
              </a:endParaRPr>
            </a:p>
            <a:p>
              <a:pPr>
                <a:buNone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Customer Analytics Service Providers </a:t>
              </a: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Wave</a:t>
              </a: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, 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Q2</a:t>
              </a: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 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2025</a:t>
              </a:r>
              <a:endParaRPr lang="en-US">
                <a:solidFill>
                  <a:prstClr val="black"/>
                </a:solidFill>
                <a:ea typeface="+mn-ea"/>
              </a:endParaRPr>
            </a:p>
            <a:p>
              <a:pPr>
                <a:buNone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Text Mining and Analytics Platforms Landscape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, Q1</a:t>
              </a: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 2024</a:t>
              </a:r>
              <a:endParaRPr lang="en-US">
                <a:solidFill>
                  <a:prstClr val="black"/>
                </a:solidFill>
              </a:endParaRPr>
            </a:p>
            <a:p>
              <a:pPr>
                <a:buNone/>
                <a:defRPr/>
              </a:pP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Marketing Measurement And Optimization Wave, 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Q3 2023</a:t>
              </a:r>
              <a:endParaRPr lang="en-US">
                <a:solidFill>
                  <a:prstClr val="black"/>
                </a:solidFill>
              </a:endParaRPr>
            </a:p>
            <a:p>
              <a:pPr marL="0" marR="0" lvl="0" indent="0" algn="l" defTabSz="91440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39BAFA-D28C-EE4E-B684-06F77490EACE}"/>
                </a:ext>
              </a:extLst>
            </p:cNvPr>
            <p:cNvSpPr txBox="1"/>
            <p:nvPr/>
          </p:nvSpPr>
          <p:spPr>
            <a:xfrm>
              <a:off x="7756260" y="2016981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6800E0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Forrester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800E0"/>
                </a:solidFill>
                <a:effectLst/>
                <a:uLnTx/>
                <a:uFillTx/>
                <a:latin typeface="Segoe UI Semibold" panose="020B0702040204020203" pitchFamily="34" charset="0"/>
                <a:ea typeface="Mars Centra" panose="020B0604020202020204" charset="0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98BCED4-B9FF-9D71-5732-C276B0977E1C}"/>
              </a:ext>
            </a:extLst>
          </p:cNvPr>
          <p:cNvGrpSpPr/>
          <p:nvPr/>
        </p:nvGrpSpPr>
        <p:grpSpPr>
          <a:xfrm>
            <a:off x="7532789" y="4069289"/>
            <a:ext cx="4290682" cy="1173516"/>
            <a:chOff x="7521408" y="4056596"/>
            <a:chExt cx="4093177" cy="117351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E6D3CB-8293-8C83-8180-21BAB7E9BA6D}"/>
                </a:ext>
              </a:extLst>
            </p:cNvPr>
            <p:cNvSpPr txBox="1"/>
            <p:nvPr/>
          </p:nvSpPr>
          <p:spPr>
            <a:xfrm>
              <a:off x="7532870" y="4283699"/>
              <a:ext cx="4081715" cy="946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900" b="0" i="0" u="none" strike="noStrike">
                  <a:solidFill>
                    <a:prstClr val="black"/>
                  </a:solidFill>
                  <a:effectLst/>
                  <a:latin typeface="Segoe UI"/>
                  <a:cs typeface="Segoe UI"/>
                </a:defRPr>
              </a:lvl1pPr>
            </a:lstStyle>
            <a:p>
              <a:pPr marL="0" indent="0">
                <a:spcBef>
                  <a:spcPts val="0"/>
                </a:spcBef>
              </a:pPr>
              <a:r>
                <a:rPr lang="en-IN" b="1"/>
                <a:t>Strong Performer Life Sciences AI and Analytics Services for Commercial </a:t>
              </a:r>
              <a:r>
                <a:rPr lang="en-IN"/>
                <a:t>PEAK Matrix® Assessment 2025</a:t>
              </a:r>
              <a:endParaRPr lang="en-US"/>
            </a:p>
            <a:p>
              <a:pPr marL="0" indent="0"/>
              <a:r>
                <a:rPr lang="en-IN" b="1"/>
                <a:t>Star Performer &amp; Major Contender Data &amp; AI Services Specialists </a:t>
              </a:r>
              <a:r>
                <a:rPr lang="en-IN"/>
                <a:t>(North America), 2025</a:t>
              </a:r>
            </a:p>
            <a:p>
              <a:pPr marL="0" indent="0"/>
              <a:r>
                <a:rPr lang="en-IN" b="1"/>
                <a:t>Retail and CPG Data Analytics &amp; AI Services </a:t>
              </a:r>
              <a:r>
                <a:rPr lang="en-IN"/>
                <a:t>Peak Matrix </a:t>
              </a:r>
              <a:endParaRPr lang="en-US"/>
            </a:p>
            <a:p>
              <a:pPr marL="0" indent="0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0853057-769B-5DBC-388E-0650225A4A71}"/>
                </a:ext>
              </a:extLst>
            </p:cNvPr>
            <p:cNvSpPr txBox="1"/>
            <p:nvPr/>
          </p:nvSpPr>
          <p:spPr>
            <a:xfrm>
              <a:off x="7521408" y="4056596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R="0" lvl="0" indent="0" font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srgbClr val="6800E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Everest Group PEAK Matrix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948CC40-FA92-EDB9-8E9A-FE01C129FE95}"/>
              </a:ext>
            </a:extLst>
          </p:cNvPr>
          <p:cNvGrpSpPr/>
          <p:nvPr/>
        </p:nvGrpSpPr>
        <p:grpSpPr>
          <a:xfrm>
            <a:off x="7532789" y="5548133"/>
            <a:ext cx="4311182" cy="650444"/>
            <a:chOff x="7733893" y="5624333"/>
            <a:chExt cx="4112733" cy="65044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F04452-16A4-6508-D79C-38788BCC17EF}"/>
                </a:ext>
              </a:extLst>
            </p:cNvPr>
            <p:cNvSpPr txBox="1"/>
            <p:nvPr/>
          </p:nvSpPr>
          <p:spPr>
            <a:xfrm>
              <a:off x="7733893" y="5859279"/>
              <a:ext cx="4112733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000" b="0" i="0" u="none" strike="noStrike">
                  <a:effectLst/>
                  <a:latin typeface="Segoe UI" panose="020B0502040204020203" pitchFamily="34" charset="0"/>
                  <a:ea typeface="Mars Centra" panose="020B0604020202020204" charset="0"/>
                  <a:cs typeface="Segoe UI" panose="020B0502040204020203" pitchFamily="34" charset="0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“</a:t>
              </a: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Seasoned Vendor</a:t>
              </a: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” in the </a:t>
              </a: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2025 Pharma Commercial Analytics Platforms PeMa Quadrant</a:t>
              </a:r>
            </a:p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“Leader” in the Top Generative AI &amp; Data Science Service Providers 2024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DFCC701-6354-39A7-1287-707700414EE7}"/>
                </a:ext>
              </a:extLst>
            </p:cNvPr>
            <p:cNvSpPr txBox="1"/>
            <p:nvPr/>
          </p:nvSpPr>
          <p:spPr>
            <a:xfrm>
              <a:off x="7749939" y="5624333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srgbClr val="6800E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Analytics India Magazine (AIM)</a:t>
              </a: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69D9B79-189F-1718-51F1-07ABAF0BE527}"/>
              </a:ext>
            </a:extLst>
          </p:cNvPr>
          <p:cNvCxnSpPr>
            <a:cxnSpLocks/>
          </p:cNvCxnSpPr>
          <p:nvPr/>
        </p:nvCxnSpPr>
        <p:spPr>
          <a:xfrm>
            <a:off x="7542677" y="5484905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F9DE3C6-2692-8375-CDB2-FD8DCFBCEFFF}"/>
              </a:ext>
            </a:extLst>
          </p:cNvPr>
          <p:cNvSpPr txBox="1"/>
          <p:nvPr/>
        </p:nvSpPr>
        <p:spPr>
          <a:xfrm>
            <a:off x="7550484" y="5288401"/>
            <a:ext cx="4264290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171450" indent="-171450" fontAlgn="ctr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b="0" i="0" u="none" strike="noStrike">
                <a:effectLst/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defRPr>
            </a:lvl1pPr>
          </a:lstStyle>
          <a:p>
            <a:pPr>
              <a:buNone/>
              <a:defRPr/>
            </a:pPr>
            <a:r>
              <a:rPr lang="en-US" sz="900">
                <a:solidFill>
                  <a:prstClr val="black"/>
                </a:solidFill>
                <a:latin typeface="Segoe UI"/>
                <a:cs typeface="Segoe UI"/>
              </a:rPr>
              <a:t>Market Glance: </a:t>
            </a:r>
            <a:r>
              <a:rPr lang="en-US" sz="900" b="1">
                <a:solidFill>
                  <a:prstClr val="black"/>
                </a:solidFill>
                <a:latin typeface="Segoe UI"/>
                <a:cs typeface="Segoe UI"/>
              </a:rPr>
              <a:t>Generative AI Technologies and Service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2DF01F-F15E-37B1-7EA7-2FA0E4582826}"/>
              </a:ext>
            </a:extLst>
          </p:cNvPr>
          <p:cNvSpPr txBox="1"/>
          <p:nvPr/>
        </p:nvSpPr>
        <p:spPr>
          <a:xfrm>
            <a:off x="7527038" y="5117617"/>
            <a:ext cx="4264290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font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6800E0"/>
                </a:solidFill>
                <a:latin typeface="Segoe UI Semibold"/>
                <a:cs typeface="Segoe UI Semibold"/>
              </a:rPr>
              <a:t>IDC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89B6BF3-C5C2-55B0-D196-9134F2EE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068E7ED-A6D5-BE40-CA25-2DEE53C4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0841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5i">
      <a:dk1>
        <a:sysClr val="windowText" lastClr="000000"/>
      </a:dk1>
      <a:lt1>
        <a:sysClr val="window" lastClr="FFFFFF"/>
      </a:lt1>
      <a:dk2>
        <a:srgbClr val="0C0C0C"/>
      </a:dk2>
      <a:lt2>
        <a:srgbClr val="6800E0"/>
      </a:lt2>
      <a:accent1>
        <a:srgbClr val="F6F6F6"/>
      </a:accent1>
      <a:accent2>
        <a:srgbClr val="BC9BEC"/>
      </a:accent2>
      <a:accent3>
        <a:srgbClr val="8C51E1"/>
      </a:accent3>
      <a:accent4>
        <a:srgbClr val="420897"/>
      </a:accent4>
      <a:accent5>
        <a:srgbClr val="CCCCCC"/>
      </a:accent5>
      <a:accent6>
        <a:srgbClr val="242424"/>
      </a:accent6>
      <a:hlink>
        <a:srgbClr val="260356"/>
      </a:hlink>
      <a:folHlink>
        <a:srgbClr val="B7B7B7"/>
      </a:folHlink>
    </a:clrScheme>
    <a:fontScheme name="Custom 1">
      <a:majorFont>
        <a:latin typeface="Degular SemiBold"/>
        <a:ea typeface=""/>
        <a:cs typeface=""/>
      </a:majorFont>
      <a:minorFont>
        <a:latin typeface="D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Klassify>
  <SNO>3</SNO>
  <KDate>2025-09-25 12:17:08</KDate>
  <Classification>CONFIDENTIAL</Classification>
  <Subclassification/>
  <HostName>ETVBL642</HostName>
  <Domain_User>COURSE5/manjunath.revankar</Domain_User>
  <IPAdd>10.191.170.161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1daf6ff-ab29-4e47-b642-d59a9f8b800d" xsi:nil="true"/>
    <SharedWithUsers xmlns="51daf6ff-ab29-4e47-b642-d59a9f8b800d">
      <UserInfo>
        <DisplayName>Megha Chaudhry</DisplayName>
        <AccountId>713</AccountId>
        <AccountType/>
      </UserInfo>
      <UserInfo>
        <DisplayName>Nitesh Jain</DisplayName>
        <AccountId>870</AccountId>
        <AccountType/>
      </UserInfo>
      <UserInfo>
        <DisplayName>Anees Merchant</DisplayName>
        <AccountId>44</AccountId>
        <AccountType/>
      </UserInfo>
      <UserInfo>
        <DisplayName>Ridhi Agarwal</DisplayName>
        <AccountId>5113</AccountId>
        <AccountType/>
      </UserInfo>
      <UserInfo>
        <DisplayName>Tarun Mahajan</DisplayName>
        <AccountId>2391</AccountId>
        <AccountType/>
      </UserInfo>
      <UserInfo>
        <DisplayName>Pranjal Upadhyay</DisplayName>
        <AccountId>3706</AccountId>
        <AccountType/>
      </UserInfo>
      <UserInfo>
        <DisplayName>Robin Paulose Valamkot</DisplayName>
        <AccountId>1197</AccountId>
        <AccountType/>
      </UserInfo>
      <UserInfo>
        <DisplayName>Girish Rao S</DisplayName>
        <AccountId>4469</AccountId>
        <AccountType/>
      </UserInfo>
      <UserInfo>
        <DisplayName>Abhimanyu Shivaji Puthiyaveetil</DisplayName>
        <AccountId>2062</AccountId>
        <AccountType/>
      </UserInfo>
      <UserInfo>
        <DisplayName>Paul Lekhan Bethapudi</DisplayName>
        <AccountId>325</AccountId>
        <AccountType/>
      </UserInfo>
      <UserInfo>
        <DisplayName>Sayan Goswami</DisplayName>
        <AccountId>2855</AccountId>
        <AccountType/>
      </UserInfo>
      <UserInfo>
        <DisplayName>Devendra Desai</DisplayName>
        <AccountId>9</AccountId>
        <AccountType/>
      </UserInfo>
      <UserInfo>
        <DisplayName>Nisha Choudhary</DisplayName>
        <AccountId>708</AccountId>
        <AccountType/>
      </UserInfo>
      <UserInfo>
        <DisplayName>Nikhil Kandankerry</DisplayName>
        <AccountId>4456</AccountId>
        <AccountType/>
      </UserInfo>
      <UserInfo>
        <DisplayName>Namratta Pandya</DisplayName>
        <AccountId>94</AccountId>
        <AccountType/>
      </UserInfo>
      <UserInfo>
        <DisplayName>Pushkar Roy</DisplayName>
        <AccountId>3213</AccountId>
        <AccountType/>
      </UserInfo>
      <UserInfo>
        <DisplayName>Manish Amberkar</DisplayName>
        <AccountId>725</AccountId>
        <AccountType/>
      </UserInfo>
      <UserInfo>
        <DisplayName>Prashant Bhatt</DisplayName>
        <AccountId>4570</AccountId>
        <AccountType/>
      </UserInfo>
      <UserInfo>
        <DisplayName>Ketan Gohel</DisplayName>
        <AccountId>85</AccountId>
        <AccountType/>
      </UserInfo>
      <UserInfo>
        <DisplayName>Farid Kazani</DisplayName>
        <AccountId>5809</AccountId>
        <AccountType/>
      </UserInfo>
      <UserInfo>
        <DisplayName>Shirley Singh</DisplayName>
        <AccountId>524</AccountId>
        <AccountType/>
      </UserInfo>
      <UserInfo>
        <DisplayName>Maclene Roser Sona</DisplayName>
        <AccountId>84</AccountId>
        <AccountType/>
      </UserInfo>
      <UserInfo>
        <DisplayName>Bishal Neogi</DisplayName>
        <AccountId>2479</AccountId>
        <AccountType/>
      </UserInfo>
      <UserInfo>
        <DisplayName>Richa Sharma</DisplayName>
        <AccountId>34</AccountId>
        <AccountType/>
      </UserInfo>
      <UserInfo>
        <DisplayName>Arvind Puliyurudayan</DisplayName>
        <AccountId>3137</AccountId>
        <AccountType/>
      </UserInfo>
      <UserInfo>
        <DisplayName>Esha Gupta</DisplayName>
        <AccountId>5660</AccountId>
        <AccountType/>
      </UserInfo>
      <UserInfo>
        <DisplayName>Nishant Paul</DisplayName>
        <AccountId>2396</AccountId>
        <AccountType/>
      </UserInfo>
      <UserInfo>
        <DisplayName>Shreyas Sundaresh</DisplayName>
        <AccountId>63</AccountId>
        <AccountType/>
      </UserInfo>
    </SharedWithUsers>
    <lcf76f155ced4ddcb4097134ff3c332f xmlns="aab43240-0c90-42b6-b1f9-20f82582cb5a">
      <Terms xmlns="http://schemas.microsoft.com/office/infopath/2007/PartnerControls"/>
    </lcf76f155ced4ddcb4097134ff3c332f>
    <ProblemArea xmlns="aab43240-0c90-42b6-b1f9-20f82582cb5a" xsi:nil="true"/>
    <Industry xmlns="aab43240-0c90-42b6-b1f9-20f82582cb5a" xsi:nil="true"/>
    <Others xmlns="aab43240-0c90-42b6-b1f9-20f82582cb5a" xsi:nil="true"/>
    <IncidentID xmlns="aab43240-0c90-42b6-b1f9-20f82582cb5a" xsi:nil="true"/>
    <FileProperties xmlns="aab43240-0c90-42b6-b1f9-20f82582cb5a" xsi:nil="true"/>
    <linktofile xmlns="aab43240-0c90-42b6-b1f9-20f82582cb5a">
      <Url xsi:nil="true"/>
      <Description xsi:nil="true"/>
    </linktofile>
  </documentManagement>
</p:properties>
</file>

<file path=customXml/item4.xml><?xml version="1.0" encoding="utf-8"?>
<Klassify>
  <SNO>1</SNO>
  <KDate>2025-07-23 11:26:58</KDate>
  <Classification>CONFIDENTIAL</Classification>
  <Subclassification/>
  <HostName>CJWL001</HostName>
  <Domain_User>COURSE5/Tarun.Mahajan</Domain_User>
  <IPAdd>192.168.1.3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8C25276D25754D99ED3DF75D0ABE1F" ma:contentTypeVersion="22" ma:contentTypeDescription="Create a new document." ma:contentTypeScope="" ma:versionID="00757ea201e92672b7c52927791c8365">
  <xsd:schema xmlns:xsd="http://www.w3.org/2001/XMLSchema" xmlns:xs="http://www.w3.org/2001/XMLSchema" xmlns:p="http://schemas.microsoft.com/office/2006/metadata/properties" xmlns:ns2="aab43240-0c90-42b6-b1f9-20f82582cb5a" xmlns:ns3="51daf6ff-ab29-4e47-b642-d59a9f8b800d" targetNamespace="http://schemas.microsoft.com/office/2006/metadata/properties" ma:root="true" ma:fieldsID="62319d12585f13c95a46ddee87e971b5" ns2:_="" ns3:_="">
    <xsd:import namespace="aab43240-0c90-42b6-b1f9-20f82582cb5a"/>
    <xsd:import namespace="51daf6ff-ab29-4e47-b642-d59a9f8b800d"/>
    <xsd:element name="properties">
      <xsd:complexType>
        <xsd:sequence>
          <xsd:element name="documentManagement">
            <xsd:complexType>
              <xsd:all>
                <xsd:element ref="ns2:Industry" minOccurs="0"/>
                <xsd:element ref="ns2:ProblemArea" minOccurs="0"/>
                <xsd:element ref="ns2:Other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IncidentID" minOccurs="0"/>
                <xsd:element ref="ns2:FileProperties" minOccurs="0"/>
                <xsd:element ref="ns2:MediaServiceOCR" minOccurs="0"/>
                <xsd:element ref="ns2:MediaServiceBillingMetadata" minOccurs="0"/>
                <xsd:element ref="ns2:linkto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b43240-0c90-42b6-b1f9-20f82582cb5a" elementFormDefault="qualified">
    <xsd:import namespace="http://schemas.microsoft.com/office/2006/documentManagement/types"/>
    <xsd:import namespace="http://schemas.microsoft.com/office/infopath/2007/PartnerControls"/>
    <xsd:element name="Industry" ma:index="8" nillable="true" ma:displayName="Industry" ma:format="Dropdown" ma:internalName="Industry">
      <xsd:simpleType>
        <xsd:restriction base="dms:Choice">
          <xsd:enumeration value="TMT"/>
          <xsd:enumeration value="RCM"/>
          <xsd:enumeration value="BFSI &amp; others"/>
          <xsd:enumeration value="HLS"/>
        </xsd:restriction>
      </xsd:simpleType>
    </xsd:element>
    <xsd:element name="ProblemArea" ma:index="9" nillable="true" ma:displayName="Problem Area" ma:format="Dropdown" ma:indexed="true" ma:internalName="ProblemArea">
      <xsd:simpleType>
        <xsd:restriction base="dms:Choice">
          <xsd:enumeration value="Market Intelligence and Competitor Intelligence (MICI)"/>
          <xsd:enumeration value="Business Intelligence"/>
          <xsd:enumeration value="Artificial Intelligence and Machine Learning"/>
          <xsd:enumeration value="Data Management"/>
          <xsd:enumeration value="Consumer Insight"/>
          <xsd:enumeration value="Marketing and Sales"/>
          <xsd:enumeration value="Supply Chain and Procurement"/>
          <xsd:enumeration value="Gen AI"/>
        </xsd:restriction>
      </xsd:simpleType>
    </xsd:element>
    <xsd:element name="Others" ma:index="10" nillable="true" ma:displayName="Others" ma:format="Dropdown" ma:internalName="Other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I Infrastructure"/>
                    <xsd:enumeration value="Brand Measurement"/>
                    <xsd:enumeration value="Market Research Insights"/>
                    <xsd:enumeration value="Data Strategy"/>
                    <xsd:enumeration value="Marketing &amp; Sales"/>
                    <xsd:enumeration value="Data Foundation"/>
                    <xsd:enumeration value="Customer Journey Analytics"/>
                    <xsd:enumeration value="Profitability Improvement"/>
                    <xsd:enumeration value="Customer Insights"/>
                    <xsd:enumeration value="Competitive Intelligence"/>
                    <xsd:enumeration value="Qualitative Research"/>
                    <xsd:enumeration value="Concept Testing"/>
                    <xsd:enumeration value="Account Intelligence"/>
                    <xsd:enumeration value="Competitor Analysis"/>
                    <xsd:enumeration value="Text Analytics"/>
                    <xsd:enumeration value="Store Segmentation"/>
                    <xsd:enumeration value="Cost to Serve"/>
                    <xsd:enumeration value="Campaign Effectiveness"/>
                    <xsd:enumeration value="Dynamic Content Generation"/>
                    <xsd:enumeration value="CDP"/>
                    <xsd:enumeration value="Digital Analytics"/>
                    <xsd:enumeration value="Customer Targeting"/>
                    <xsd:enumeration value="Accounts Payables"/>
                    <xsd:enumeration value="Discovery"/>
                    <xsd:enumeration value="FTE Resourcing"/>
                    <xsd:enumeration value="Simulator"/>
                    <xsd:enumeration value="Marketplace Analytics"/>
                    <xsd:enumeration value="Business Intelligence"/>
                    <xsd:enumeration value="Customer &amp; Marketing Analytics"/>
                    <xsd:enumeration value="Google Analytics"/>
                    <xsd:enumeration value="Market Research"/>
                    <xsd:enumeration value="Consumer Insights"/>
                    <xsd:enumeration value="DevOps"/>
                    <xsd:enumeration value="Demand Forecasting"/>
                    <xsd:enumeration value="Segmentation"/>
                    <xsd:enumeration value="Conjoint analysis"/>
                    <xsd:enumeration value="Verbatim"/>
                    <xsd:enumeration value="open ​end coding"/>
                    <xsd:enumeration value="Risk analytics"/>
                    <xsd:enumeration value="Adverse Events Reporting"/>
                    <xsd:enumeration value="Key Driver Analysis"/>
                    <xsd:enumeration value="NPD Launch Analytics"/>
                    <xsd:enumeration value="Inventory Forecasting"/>
                    <xsd:enumeration value="MMM"/>
                    <xsd:enumeration value="Forecasting"/>
                    <xsd:enumeration value="Personalization"/>
                    <xsd:enumeration value="Market Share Analysis"/>
                    <xsd:enumeration value="SKU Incrementality"/>
                    <xsd:enumeration value="SKU Rationalization"/>
                    <xsd:enumeration value="MLOps"/>
                    <xsd:enumeration value="MDM"/>
                    <xsd:enumeration value="LLM Network Graphs"/>
                    <xsd:enumeration value="CTS"/>
                    <xsd:enumeration value="Customer Experience"/>
                    <xsd:enumeration value="Growth Dashboard"/>
                    <xsd:enumeration value="Research Studio"/>
                    <xsd:enumeration value="Reporting Automation"/>
                    <xsd:enumeration value="Data Platform"/>
                    <xsd:enumeration value="Customer Journey"/>
                    <xsd:enumeration value="Primary Research"/>
                    <xsd:enumeration value="Secondary Research"/>
                    <xsd:enumeration value="Data Analytics"/>
                    <xsd:enumeration value="BI"/>
                    <xsd:enumeration value="ML"/>
                    <xsd:enumeration value="Gen AI"/>
                    <xsd:enumeration value="Social Listening"/>
                    <xsd:enumeration value="Social Media Analytics"/>
                    <xsd:enumeration value="BI and Reporting"/>
                    <xsd:enumeration value="Managed Services"/>
                    <xsd:enumeration value="Competitive Analysis"/>
                    <xsd:enumeration value="Survey Data Quality"/>
                    <xsd:enumeration value="Compete"/>
                    <xsd:enumeration value="Insights Portal"/>
                    <xsd:enumeration value="Platform setup"/>
                    <xsd:enumeration value="Pricing &amp; Promotion"/>
                    <xsd:enumeration value="Customer Activation"/>
                    <xsd:enumeration value="Phone Activation Survey"/>
                    <xsd:enumeration value="Martech"/>
                    <xsd:enumeration value="Setup Foundation with Tableau Dashboard ​"/>
                    <xsd:enumeration value="Set up and operationalization of the platform"/>
                    <xsd:enumeration value="Improve dashboarding and visualization"/>
                    <xsd:enumeration value="CDP &amp; Digital Engineering​"/>
                    <xsd:enumeration value="generating actionable insights"/>
                    <xsd:enumeration value="NA"/>
                    <xsd:enumeration value="customer 360"/>
                    <xsd:enumeration value="Search Optimization"/>
                    <xsd:enumeration value="Retail Media Analytics"/>
                    <xsd:enumeration value="Synthetic Data"/>
                    <xsd:enumeration value="DCOM Intelligence"/>
                    <xsd:enumeration value="Digital Commerce"/>
                    <xsd:enumeration value="Customer Data Platform"/>
                    <xsd:enumeration value="Automated Data Pipelines"/>
                    <xsd:enumeration value="Centralised Data Repository"/>
                    <xsd:enumeration value="ML Models for Segmentation"/>
                    <xsd:enumeration value="Digital Shelf Platform"/>
                    <xsd:enumeration value="DCOM Experience"/>
                    <xsd:enumeration value="Centralised Experience Platform"/>
                    <xsd:enumeration value="Knowledge Portal"/>
                    <xsd:enumeration value="Analytics Roadmap"/>
                    <xsd:enumeration value="Social Media Sensing"/>
                    <xsd:enumeration value="CDP Data Management"/>
                    <xsd:enumeration value="Pricing Analytics"/>
                    <xsd:enumeration value="Discovery and Digital Shelf"/>
                    <xsd:enumeration value="CLG"/>
                    <xsd:enumeration value="RGM"/>
                    <xsd:enumeration value="BI Migration"/>
                    <xsd:enumeration value="Enterprise BI"/>
                    <xsd:enumeration value="Data Observability"/>
                    <xsd:enumeration value="Omnicomerce"/>
                    <xsd:enumeration value="GBS Team Support"/>
                    <xsd:enumeration value="CLV"/>
                    <xsd:enumeration value="NRM"/>
                    <xsd:enumeration value="ROI Data Model"/>
                    <xsd:enumeration value="3M Relationshop slide"/>
                    <xsd:enumeration value="IMM Capabilities"/>
                    <xsd:enumeration value="Digital Transformation Charter"/>
                    <xsd:enumeration value="POS Data Harmonization"/>
                    <xsd:enumeration value="Sales Sensing"/>
                    <xsd:enumeration value="Sales Optimization"/>
                    <xsd:enumeration value="Propensity Modelling"/>
                    <xsd:enumeration value="Supply Chain Capability for 3M"/>
                    <xsd:enumeration value="Survey Analytics"/>
                    <xsd:enumeration value="Retail POS Data Harmonization"/>
                    <xsd:enumeration value="Trade Promotion"/>
                    <xsd:enumeration value="TPO"/>
                    <xsd:enumeration value="Digital Analytics Overview"/>
                    <xsd:enumeration value="NCBDs"/>
                    <xsd:enumeration value="Value Proposition for 3M"/>
                  </xsd:restriction>
                </xsd:simpleType>
              </xsd:element>
            </xsd:sequence>
          </xsd:extension>
        </xsd:complexContent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6409d21-45bd-4073-9167-75d94eea53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IncidentID" ma:index="24" nillable="true" ma:displayName="IncidentID" ma:format="Dropdown" ma:internalName="IncidentID" ma:percentage="FALSE">
      <xsd:simpleType>
        <xsd:restriction base="dms:Number"/>
      </xsd:simpleType>
    </xsd:element>
    <xsd:element name="FileProperties" ma:index="25" nillable="true" ma:displayName="File Properties" ma:format="Dropdown" ma:internalName="FileProperties">
      <xsd:simpleType>
        <xsd:restriction base="dms:Choice">
          <xsd:enumeration value="Link"/>
          <xsd:enumeration value="Choice 2"/>
        </xsd:restriction>
      </xsd:simple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inktofile" ma:index="28" nillable="true" ma:displayName="link to file" ma:format="Hyperlink" ma:internalName="linktofil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daf6ff-ab29-4e47-b642-d59a9f8b800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5029c07-5926-42c4-9d2a-9ab33d336a4e}" ma:internalName="TaxCatchAll" ma:showField="CatchAllData" ma:web="51daf6ff-ab29-4e47-b642-d59a9f8b80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Klassify>
  <SNO>2</SNO>
  <KDate>2025-07-23 11:27:16</KDate>
  <Classification>CONFIDENTIAL</Classification>
  <Subclassification/>
  <HostName>CJWL001</HostName>
  <Domain_User>COURSE5/Tarun.Mahajan</Domain_User>
  <IPAdd>192.168.1.3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Props1.xml><?xml version="1.0" encoding="utf-8"?>
<ds:datastoreItem xmlns:ds="http://schemas.openxmlformats.org/officeDocument/2006/customXml" ds:itemID="{68FC7787-450A-4241-B2D3-BEBEC7DF02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A7F03C-E283-4FC4-B123-A970FC744892}">
  <ds:schemaRefs/>
</ds:datastoreItem>
</file>

<file path=customXml/itemProps3.xml><?xml version="1.0" encoding="utf-8"?>
<ds:datastoreItem xmlns:ds="http://schemas.openxmlformats.org/officeDocument/2006/customXml" ds:itemID="{BB8547DF-62BB-441C-A55D-F6F524CB8036}">
  <ds:schemaRefs>
    <ds:schemaRef ds:uri="51daf6ff-ab29-4e47-b642-d59a9f8b800d"/>
    <ds:schemaRef ds:uri="aab43240-0c90-42b6-b1f9-20f82582cb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A2B21DBC-EAEA-4215-8A8F-2C5420CACC28}">
  <ds:schemaRefs/>
</ds:datastoreItem>
</file>

<file path=customXml/itemProps5.xml><?xml version="1.0" encoding="utf-8"?>
<ds:datastoreItem xmlns:ds="http://schemas.openxmlformats.org/officeDocument/2006/customXml" ds:itemID="{9E0E0244-30C3-4B7F-813B-56E0B3542B0E}">
  <ds:schemaRefs>
    <ds:schemaRef ds:uri="51daf6ff-ab29-4e47-b642-d59a9f8b800d"/>
    <ds:schemaRef ds:uri="aab43240-0c90-42b6-b1f9-20f82582cb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9BE887EA-3D91-4F74-869E-793B5CE5F4A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1916</TotalTime>
  <Words>336</Words>
  <Application>Microsoft Office PowerPoint</Application>
  <PresentationFormat>Widescreen</PresentationFormat>
  <Paragraphs>71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Degular</vt:lpstr>
      <vt:lpstr>Segoe UI</vt:lpstr>
      <vt:lpstr>Segoe UI Light</vt:lpstr>
      <vt:lpstr>Segoe UI Semibold</vt:lpstr>
      <vt:lpstr>1_Office Theme</vt:lpstr>
      <vt:lpstr>Introduction to C5i</vt:lpstr>
      <vt:lpstr>About C5i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C5i</dc:title>
  <dc:creator>Sayan Goswami</dc:creator>
  <cp:keywords>CONFIDENTIAL</cp:keywords>
  <cp:lastModifiedBy>Atharva Joshi</cp:lastModifiedBy>
  <cp:revision>8</cp:revision>
  <dcterms:created xsi:type="dcterms:W3CDTF">2024-05-14T10:03:48Z</dcterms:created>
  <dcterms:modified xsi:type="dcterms:W3CDTF">2026-05-03T05:17:07Z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68e2e5-4152-45e5-8888-90d343db8048_Enabled">
    <vt:lpwstr>true</vt:lpwstr>
  </property>
  <property fmtid="{D5CDD505-2E9C-101B-9397-08002B2CF9AE}" pid="3" name="MSIP_Label_f368e2e5-4152-45e5-8888-90d343db8048_SetDate">
    <vt:lpwstr>2024-05-14T10:22:23Z</vt:lpwstr>
  </property>
  <property fmtid="{D5CDD505-2E9C-101B-9397-08002B2CF9AE}" pid="4" name="MSIP_Label_f368e2e5-4152-45e5-8888-90d343db8048_Method">
    <vt:lpwstr>Standard</vt:lpwstr>
  </property>
  <property fmtid="{D5CDD505-2E9C-101B-9397-08002B2CF9AE}" pid="5" name="MSIP_Label_f368e2e5-4152-45e5-8888-90d343db8048_Name">
    <vt:lpwstr>defa4170-0d19-0005-0000-bc88714345d2</vt:lpwstr>
  </property>
  <property fmtid="{D5CDD505-2E9C-101B-9397-08002B2CF9AE}" pid="6" name="MSIP_Label_f368e2e5-4152-45e5-8888-90d343db8048_SiteId">
    <vt:lpwstr>b5af2451-e21b-4aa2-b4b5-dc5907908dd8</vt:lpwstr>
  </property>
  <property fmtid="{D5CDD505-2E9C-101B-9397-08002B2CF9AE}" pid="7" name="MSIP_Label_f368e2e5-4152-45e5-8888-90d343db8048_ActionId">
    <vt:lpwstr>544522de-551d-48f3-8591-260ba69795bb</vt:lpwstr>
  </property>
  <property fmtid="{D5CDD505-2E9C-101B-9397-08002B2CF9AE}" pid="8" name="MSIP_Label_f368e2e5-4152-45e5-8888-90d343db8048_ContentBits">
    <vt:lpwstr>2</vt:lpwstr>
  </property>
  <property fmtid="{D5CDD505-2E9C-101B-9397-08002B2CF9AE}" pid="9" name="ClassificationContentMarkingFooterLocations">
    <vt:lpwstr>1_Office Theme:8</vt:lpwstr>
  </property>
  <property fmtid="{D5CDD505-2E9C-101B-9397-08002B2CF9AE}" pid="10" name="ClassificationContentMarkingFooterText">
    <vt:lpwstr>Internal</vt:lpwstr>
  </property>
  <property fmtid="{D5CDD505-2E9C-101B-9397-08002B2CF9AE}" pid="11" name="ContentTypeId">
    <vt:lpwstr>0x010100B88C25276D25754D99ED3DF75D0ABE1F</vt:lpwstr>
  </property>
  <property fmtid="{D5CDD505-2E9C-101B-9397-08002B2CF9AE}" pid="12" name="KlassifyGUID">
    <vt:lpwstr>6b80e18f-6a9a-4fb5-a233-294e233c8fcf</vt:lpwstr>
  </property>
  <property fmtid="{D5CDD505-2E9C-101B-9397-08002B2CF9AE}" pid="13" name="Classification">
    <vt:lpwstr>CONFIDENTIAL</vt:lpwstr>
  </property>
  <property fmtid="{D5CDD505-2E9C-101B-9397-08002B2CF9AE}" pid="14" name="KID">
    <vt:lpwstr>A029423E5107639056490177247195</vt:lpwstr>
  </property>
  <property fmtid="{D5CDD505-2E9C-101B-9397-08002B2CF9AE}" pid="15" name="MediaServiceImageTags">
    <vt:lpwstr/>
  </property>
</Properties>
</file>