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8887968" cy="621792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54864" cy="6217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841248"/>
            <a:ext cx="8577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Browser-deployable SPA with Python monolithic pipeline combining TF-IDF, Jaccard, Levenshtein, and LLM semantic scoring to auto-generate Excel governance reports from PowerBI metadata uploads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01168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01168" y="1700784"/>
            <a:ext cx="1645920" cy="228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1168" y="192938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177393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governance reporting across PowerBI estates with inconsistent cross-team naming conventions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01168" y="235000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19456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surface duplicate or semantically similar attributes across PowerBI reports at scale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01168" y="2770632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261518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exportable Excel governance reports from PowerBI metadata with minimal manual effort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01168" y="3191256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303580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zero-infrastructure, browser-deployable governance tool eliminating all deployment overhead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01168" y="3611880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345643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deterministic, auditable AI-driven attribute matching to support data governance compliance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35424" y="1499616"/>
            <a:ext cx="18288" cy="3936492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736592" y="1700784"/>
            <a:ext cx="1645920" cy="228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36592" y="192938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19472" y="1773936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report generation time reduced to under 5 minutes per PowerBI estate upload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736592" y="235000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19472" y="2194560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duplicate detection accuracy exceeds 90% against manually validated attribute pairs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736592" y="2770632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19472" y="261518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provisioning steps required for end-user deployment and access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736592" y="3191256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19472" y="303580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determinism rate above 99% measured via JSON parse success across 1000 requests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736592" y="3611880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19472" y="345643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attribute reconciliation coverage reaches 100% of uploaded metadata fields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822960"/>
            <a:ext cx="405993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822960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" y="978408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978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4944" y="91440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cross-team naming conventions make manual attribute reconciliation infeasible at scale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45152" y="822960"/>
            <a:ext cx="405993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5152" y="822960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36592" y="978408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978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75504" y="91440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zero-infrastructure tooling exists for semantic governance analysis without heavy deployment overhead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4592" y="1572768"/>
            <a:ext cx="405993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4592" y="1572768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1728216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166420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latency risk from per-request client instantiation and batched parallel Azure AI Foundry calls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45152" y="1572768"/>
            <a:ext cx="405993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45152" y="1572768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36592" y="1728216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75504" y="166420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refit on every request introduces unnecessary recomputation overhead per upload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64592" y="2322576"/>
            <a:ext cx="405993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4592" y="2322576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6032" y="2478024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6032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94944" y="241401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non-determinism risks producing non-auditable, inconsistent governance outputs without strict controls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645152" y="2322576"/>
            <a:ext cx="405993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45152" y="2322576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36592" y="2478024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36592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75504" y="241401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administrators lack cross-report attribute consistency visibility across large multi-team PowerBI tenants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64592" y="3753612"/>
            <a:ext cx="405993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64592" y="3753612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92608" y="384505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292608" y="4082796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analysts spend excessive manual effort reconciling PowerBI metadata, leading to delayed compliance reporting and undetected data inconsistencies across teams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645152" y="3753612"/>
            <a:ext cx="405993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645152" y="3753612"/>
            <a:ext cx="4059936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73168" y="384505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773168" y="4082796"/>
            <a:ext cx="385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automated semantic tooling that operates without infrastructure overhead, combined with inherent LLM non-determinism and naming convention fragmentation across BI teams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8887968" cy="621792"/>
          </a:xfrm>
          <a:prstGeom prst="rect">
            <a:avLst/>
          </a:prstGeom>
          <a:solidFill>
            <a:srgbClr val="EDE9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54864" cy="621792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" y="841248"/>
            <a:ext cx="8577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Browser-deployable SPA with Python monolithic pipeline combining TF-IDF, Jaccard, Levenshtein, and LLM semantic scoring to auto-generate Excel governance reports from PowerBI metadata uploads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" y="14996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01168" y="1700784"/>
            <a:ext cx="1645920" cy="228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1168" y="192938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1773936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three-stage scoring pipeline combining TF-IDF, Jaccard, Levenshtein, and LLM semantic analysis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01168" y="235000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194560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Zero-infrastructure SPA deployment requiring no server provisioning, login, or persistent state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01168" y="2770632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261518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3.3 70B via Azure AI Foundry with temperature 0.1 enforcing deterministic auditable outputs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01168" y="3191256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3035808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parallelised LLM batching at 25 pairs per call with retry and backoff logic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01168" y="3611880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3456432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normalisation and input sanitisation applied pre-scoring to guarantee data quality and security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68112" y="1499616"/>
            <a:ext cx="334670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68112" y="1499616"/>
            <a:ext cx="3346704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96128" y="159105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596128" y="1828800"/>
            <a:ext cx="314553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Upload-process-export pipeline: user uploads PowerBI metadata Excel/CSV, backend performs in-memory hybrid scoring, LLM validates semantic matches, Excel governance report is returned for download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64592" y="3895344"/>
            <a:ext cx="88879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4592" y="3895344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7472" y="3950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47472" y="416966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with monolithic Python processing pipeline and zero persistent server-side state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Diagram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49808"/>
            <a:ext cx="2121408" cy="4160520"/>
          </a:xfrm>
          <a:prstGeom prst="roundRect">
            <a:avLst>
              <a:gd name="adj" fmla="val 2155"/>
            </a:avLst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49808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1D4ED8"/>
          </a:solidFill>
          <a:ln w="1270">
            <a:solidFill>
              <a:srgbClr val="1D4E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4592" y="941832"/>
            <a:ext cx="2121408" cy="192024"/>
          </a:xfrm>
          <a:prstGeom prst="rect">
            <a:avLst/>
          </a:prstGeom>
          <a:solidFill>
            <a:srgbClr val="1D4ED8"/>
          </a:solidFill>
          <a:ln w="127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4592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6032" y="12801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DBEAFE"/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280160"/>
            <a:ext cx="1755648" cy="50292"/>
          </a:xfrm>
          <a:prstGeom prst="rect">
            <a:avLst/>
          </a:prstGeom>
          <a:solidFill>
            <a:srgbClr val="3B82F6"/>
          </a:solidFill>
          <a:ln w="127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0896" y="1330452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Client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9184" y="1673352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BFDBFE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" y="1673352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REST client, HTML5 File API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256032" y="4142232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DBEAFE"/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4142232"/>
            <a:ext cx="1755648" cy="50292"/>
          </a:xfrm>
          <a:prstGeom prst="rect">
            <a:avLst/>
          </a:prstGeom>
          <a:solidFill>
            <a:srgbClr val="3B82F6"/>
          </a:solidFill>
          <a:ln w="127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0896" y="4192524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9184" y="4535424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BFDBFE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" y="4535424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Foundry, AzureOpenAI client, Meta Llama 3.3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395728" y="749808"/>
            <a:ext cx="2121408" cy="4160520"/>
          </a:xfrm>
          <a:prstGeom prst="roundRect">
            <a:avLst>
              <a:gd name="adj" fmla="val 2155"/>
            </a:avLst>
          </a:prstGeom>
          <a:solidFill>
            <a:srgbClr val="F8FAFC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95728" y="749808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6D28D9"/>
          </a:solidFill>
          <a:ln w="1270">
            <a:solidFill>
              <a:srgbClr val="6D28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395728" y="941832"/>
            <a:ext cx="2121408" cy="192024"/>
          </a:xfrm>
          <a:prstGeom prst="rect">
            <a:avLst/>
          </a:prstGeom>
          <a:solidFill>
            <a:srgbClr val="6D28D9"/>
          </a:solidFill>
          <a:ln w="1270">
            <a:solidFill>
              <a:srgbClr val="6D28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95728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487168" y="2711196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EDE9FE"/>
          </a:solidFill>
          <a:ln w="22860">
            <a:solidFill>
              <a:srgbClr val="8B5C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78608" y="2711196"/>
            <a:ext cx="1755648" cy="50292"/>
          </a:xfrm>
          <a:prstGeom prst="rect">
            <a:avLst/>
          </a:prstGeom>
          <a:solidFill>
            <a:srgbClr val="8B5CF6"/>
          </a:solidFill>
          <a:ln w="1270">
            <a:solidFill>
              <a:srgbClr val="8B5C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42032" y="2761488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Frontend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560320" y="3104388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DDD6FE"/>
          </a:solidFill>
          <a:ln w="889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0" y="3104388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5.3.3, HTML5, CSS3, JavaScript, Purple des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626864" y="749808"/>
            <a:ext cx="2121408" cy="4160520"/>
          </a:xfrm>
          <a:prstGeom prst="roundRect">
            <a:avLst>
              <a:gd name="adj" fmla="val 2155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26864" y="749808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065F46"/>
          </a:solidFill>
          <a:ln w="1270">
            <a:solidFill>
              <a:srgbClr val="065F4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26864" y="941832"/>
            <a:ext cx="2121408" cy="192024"/>
          </a:xfrm>
          <a:prstGeom prst="rect">
            <a:avLst/>
          </a:prstGeom>
          <a:solidFill>
            <a:srgbClr val="065F46"/>
          </a:solidFill>
          <a:ln w="1270">
            <a:solidFill>
              <a:srgbClr val="065F4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26864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718304" y="12801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D1FAE5"/>
          </a:solidFill>
          <a:ln w="22860">
            <a:solidFill>
              <a:srgbClr val="10B98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09744" y="1280160"/>
            <a:ext cx="1755648" cy="50292"/>
          </a:xfrm>
          <a:prstGeom prst="rect">
            <a:avLst/>
          </a:prstGeom>
          <a:solidFill>
            <a:srgbClr val="10B981"/>
          </a:solidFill>
          <a:ln w="127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73168" y="1330452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791456" y="1673352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A7F3D0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91456" y="1673352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server.py, Pandas, openpyxl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4718304" y="2234184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D1FAE5"/>
          </a:solidFill>
          <a:ln w="22860">
            <a:solidFill>
              <a:srgbClr val="10B98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809744" y="2234184"/>
            <a:ext cx="1755648" cy="50292"/>
          </a:xfrm>
          <a:prstGeom prst="rect">
            <a:avLst/>
          </a:prstGeom>
          <a:solidFill>
            <a:srgbClr val="10B981"/>
          </a:solidFill>
          <a:ln w="1270">
            <a:solidFill>
              <a:srgbClr val="10B98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73168" y="2284476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Sanitiser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791456" y="2627376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A7F3D0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91456" y="2627376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unicodedata, str.strip, str.lower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718304" y="3188208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D1FAE5"/>
          </a:solidFill>
          <a:ln w="22860">
            <a:solidFill>
              <a:srgbClr val="10B98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809744" y="3188208"/>
            <a:ext cx="1755648" cy="50292"/>
          </a:xfrm>
          <a:prstGeom prst="rect">
            <a:avLst/>
          </a:prstGeom>
          <a:solidFill>
            <a:srgbClr val="10B981"/>
          </a:solidFill>
          <a:ln w="1270">
            <a:solidFill>
              <a:srgbClr val="10B98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73168" y="3238500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Scorer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791456" y="3581400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A7F3D0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91456" y="3581400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TF-IDF, character bi-gram to 4-gram, py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718304" y="4142232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D1FAE5"/>
          </a:solidFill>
          <a:ln w="22860">
            <a:solidFill>
              <a:srgbClr val="10B98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809744" y="4142232"/>
            <a:ext cx="1755648" cy="50292"/>
          </a:xfrm>
          <a:prstGeom prst="rect">
            <a:avLst/>
          </a:prstGeom>
          <a:solidFill>
            <a:srgbClr val="10B981"/>
          </a:solidFill>
          <a:ln w="1270">
            <a:solidFill>
              <a:srgbClr val="10B98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73168" y="4192524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791456" y="4535424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A7F3D0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791456" y="4535424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openpyxl, Pandas, Excel XLSX output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6858000" y="749808"/>
            <a:ext cx="2121408" cy="4160520"/>
          </a:xfrm>
          <a:prstGeom prst="roundRect">
            <a:avLst>
              <a:gd name="adj" fmla="val 2155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858000" y="749808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92400E"/>
          </a:solidFill>
          <a:ln w="1270">
            <a:solidFill>
              <a:srgbClr val="92400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858000" y="941832"/>
            <a:ext cx="2121408" cy="192024"/>
          </a:xfrm>
          <a:prstGeom prst="rect">
            <a:avLst/>
          </a:prstGeom>
          <a:solidFill>
            <a:srgbClr val="92400E"/>
          </a:solidFill>
          <a:ln w="1270">
            <a:solidFill>
              <a:srgbClr val="92400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858000" y="74980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6949440" y="2711196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FEF3C7"/>
          </a:solidFill>
          <a:ln w="22860">
            <a:solidFill>
              <a:srgbClr val="F59E0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040880" y="2711196"/>
            <a:ext cx="1755648" cy="50292"/>
          </a:xfrm>
          <a:prstGeom prst="rect">
            <a:avLst/>
          </a:prstGeom>
          <a:solidFill>
            <a:srgbClr val="F59E0B"/>
          </a:solidFill>
          <a:ln w="1270">
            <a:solidFill>
              <a:srgbClr val="F59E0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004304" y="2761488"/>
            <a:ext cx="1828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022592" y="3104388"/>
            <a:ext cx="1792224" cy="182880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022592" y="3104388"/>
            <a:ext cx="17922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max_workers=2, Python concurrent.</a:t>
            </a:r>
            <a:endParaRPr lang="en-US" sz="650" dirty="0"/>
          </a:p>
        </p:txBody>
      </p:sp>
      <p:sp>
        <p:nvSpPr>
          <p:cNvPr id="67" name="Shape 64"/>
          <p:cNvSpPr/>
          <p:nvPr/>
        </p:nvSpPr>
        <p:spPr>
          <a:xfrm>
            <a:off x="2194560" y="1591056"/>
            <a:ext cx="146304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340864" y="1591056"/>
            <a:ext cx="4572" cy="143103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340864" y="3022092"/>
            <a:ext cx="146304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0" name="Shape 67"/>
          <p:cNvSpPr/>
          <p:nvPr/>
        </p:nvSpPr>
        <p:spPr>
          <a:xfrm>
            <a:off x="1828800" y="2205990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828800" y="2205990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Interaction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4425696" y="3022092"/>
            <a:ext cx="146304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572000" y="1591056"/>
            <a:ext cx="4572" cy="143103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572000" y="1591056"/>
            <a:ext cx="146304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5" name="Shape 72"/>
          <p:cNvSpPr/>
          <p:nvPr/>
        </p:nvSpPr>
        <p:spPr>
          <a:xfrm>
            <a:off x="4059936" y="2205990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059936" y="2205990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File Upload (HTTP …</a:t>
            </a:r>
            <a:endParaRPr lang="en-US" sz="650" dirty="0"/>
          </a:p>
        </p:txBody>
      </p:sp>
      <p:sp>
        <p:nvSpPr>
          <p:cNvPr id="77" name="Shape 74"/>
          <p:cNvSpPr/>
          <p:nvPr/>
        </p:nvSpPr>
        <p:spPr>
          <a:xfrm>
            <a:off x="5687568" y="1901952"/>
            <a:ext cx="4572" cy="33223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8" name="Shape 75"/>
          <p:cNvSpPr/>
          <p:nvPr/>
        </p:nvSpPr>
        <p:spPr>
          <a:xfrm>
            <a:off x="5175504" y="1967484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75504" y="1967484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Attribute Strings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5687568" y="2855976"/>
            <a:ext cx="4572" cy="33223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1" name="Shape 78"/>
          <p:cNvSpPr/>
          <p:nvPr/>
        </p:nvSpPr>
        <p:spPr>
          <a:xfrm>
            <a:off x="5175504" y="2921508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175504" y="2921508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Attribute Pairs</a:t>
            </a:r>
            <a:endParaRPr lang="en-US" sz="650" dirty="0"/>
          </a:p>
        </p:txBody>
      </p:sp>
      <p:sp>
        <p:nvSpPr>
          <p:cNvPr id="83" name="Shape 80"/>
          <p:cNvSpPr/>
          <p:nvPr/>
        </p:nvSpPr>
        <p:spPr>
          <a:xfrm>
            <a:off x="6656832" y="3499104"/>
            <a:ext cx="146304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803136" y="3022092"/>
            <a:ext cx="4572" cy="47701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803136" y="3022092"/>
            <a:ext cx="146304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6291072" y="3160014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6291072" y="3160014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Pairs Above Thresh…</a:t>
            </a:r>
            <a:endParaRPr lang="en-US" sz="650" dirty="0"/>
          </a:p>
        </p:txBody>
      </p:sp>
      <p:sp>
        <p:nvSpPr>
          <p:cNvPr id="88" name="Shape 85"/>
          <p:cNvSpPr/>
          <p:nvPr/>
        </p:nvSpPr>
        <p:spPr>
          <a:xfrm>
            <a:off x="4572000" y="3022092"/>
            <a:ext cx="2377440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572000" y="3022092"/>
            <a:ext cx="4572" cy="143103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194560" y="4453128"/>
            <a:ext cx="2377440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1" name="Shape 88"/>
          <p:cNvSpPr/>
          <p:nvPr/>
        </p:nvSpPr>
        <p:spPr>
          <a:xfrm>
            <a:off x="4059936" y="3637026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059936" y="3637026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JSON Prompt (25 pairs)</a:t>
            </a:r>
            <a:endParaRPr lang="en-US" sz="650" dirty="0"/>
          </a:p>
        </p:txBody>
      </p:sp>
      <p:sp>
        <p:nvSpPr>
          <p:cNvPr id="93" name="Shape 90"/>
          <p:cNvSpPr/>
          <p:nvPr/>
        </p:nvSpPr>
        <p:spPr>
          <a:xfrm>
            <a:off x="2194560" y="4453128"/>
            <a:ext cx="2377440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572000" y="3022092"/>
            <a:ext cx="4572" cy="143103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572000" y="3022092"/>
            <a:ext cx="2377440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6" name="Shape 93"/>
          <p:cNvSpPr/>
          <p:nvPr/>
        </p:nvSpPr>
        <p:spPr>
          <a:xfrm>
            <a:off x="4059936" y="3637026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4059936" y="3637026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Semantic Scores Response</a:t>
            </a:r>
            <a:endParaRPr lang="en-US" sz="650" dirty="0"/>
          </a:p>
        </p:txBody>
      </p:sp>
      <p:sp>
        <p:nvSpPr>
          <p:cNvPr id="98" name="Shape 95"/>
          <p:cNvSpPr/>
          <p:nvPr/>
        </p:nvSpPr>
        <p:spPr>
          <a:xfrm>
            <a:off x="6803136" y="3022092"/>
            <a:ext cx="146304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803136" y="3022092"/>
            <a:ext cx="4572" cy="143103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656832" y="4453128"/>
            <a:ext cx="146304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1" name="Shape 98"/>
          <p:cNvSpPr/>
          <p:nvPr/>
        </p:nvSpPr>
        <p:spPr>
          <a:xfrm>
            <a:off x="6291072" y="3637026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6291072" y="3637026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Hybrid Scores</a:t>
            </a:r>
            <a:endParaRPr lang="en-US" sz="650" dirty="0"/>
          </a:p>
        </p:txBody>
      </p:sp>
      <p:sp>
        <p:nvSpPr>
          <p:cNvPr id="103" name="Shape 100"/>
          <p:cNvSpPr/>
          <p:nvPr/>
        </p:nvSpPr>
        <p:spPr>
          <a:xfrm>
            <a:off x="4572000" y="4453128"/>
            <a:ext cx="146304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572000" y="3022092"/>
            <a:ext cx="4572" cy="143103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425696" y="3022092"/>
            <a:ext cx="146304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6" name="Shape 103"/>
          <p:cNvSpPr/>
          <p:nvPr/>
        </p:nvSpPr>
        <p:spPr>
          <a:xfrm>
            <a:off x="4059936" y="3637026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4059936" y="3637026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 Download Response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2340864" y="3022092"/>
            <a:ext cx="146304" cy="4572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340864" y="1591056"/>
            <a:ext cx="4572" cy="143103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194560" y="1591056"/>
            <a:ext cx="146304" cy="4572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1" name="Shape 108"/>
          <p:cNvSpPr/>
          <p:nvPr/>
        </p:nvSpPr>
        <p:spPr>
          <a:xfrm>
            <a:off x="1828800" y="2205990"/>
            <a:ext cx="1024128" cy="201168"/>
          </a:xfrm>
          <a:prstGeom prst="roundRect">
            <a:avLst>
              <a:gd name="adj" fmla="val 2272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1828800" y="2205990"/>
            <a:ext cx="10241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Report Download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Breakdown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4114800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87782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Governance Client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608" y="1115568"/>
            <a:ext cx="3255264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" y="1133856"/>
            <a:ext cx="3182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REST client, HTML5 File API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2608" y="133502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metadata upload and governance report download interactions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45152" y="786384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786384"/>
            <a:ext cx="4114800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87782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SPA Governance Interface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73168" y="1115568"/>
            <a:ext cx="3858768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9744" y="1133856"/>
            <a:ext cx="3785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5.3.3, HTML5, CSS3, JavaScript, Purple design system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73168" y="133502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drag-and-drop upload UI, progress feedback, and triggers Excel report download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64592" y="1773936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592" y="1773936"/>
            <a:ext cx="4114800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2608" y="186537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Python Governance Processing Pipeline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92608" y="2103120"/>
            <a:ext cx="2880360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" y="2121408"/>
            <a:ext cx="2807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server.py, Pandas, openpyxl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2608" y="232257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full ingestion, normalisation, scoring, and report generation workflow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45152" y="1773936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45152" y="1773936"/>
            <a:ext cx="4114800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186537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Normalisation and Input Sanitisation Module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73168" y="2103120"/>
            <a:ext cx="3255264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09744" y="2121408"/>
            <a:ext cx="3182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unicodedata, str.strip, str.lower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73168" y="232257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whitespace, lowercases, and Unicode-normalises all attribute strings before scoring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64592" y="2761488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64592" y="2761488"/>
            <a:ext cx="4114800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92608" y="285292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Jaccard, and Levenshtein Hybrid Scoring Engine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92608" y="3090672"/>
            <a:ext cx="3858768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9184" y="3108960"/>
            <a:ext cx="3785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TF-IDF, character bi-gram to 4-gram, python-Levenshtein, Jaccard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92608" y="33101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local similarity scores for all attribute pairs before LLM semantic validation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645152" y="2761488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45152" y="2761488"/>
            <a:ext cx="4114800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73168" y="285292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Parallelised LLM Inference Orchestrator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773168" y="3090672"/>
            <a:ext cx="3858768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09744" y="3108960"/>
            <a:ext cx="3785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max_workers=2, Python concurrent.futures, retry/backoff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773168" y="33101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attribute pairs at 25 per call and dispatches parallel LLM requests with retry logic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64592" y="3749040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64592" y="3749040"/>
            <a:ext cx="4114800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92608" y="384048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LLM Endpoint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92608" y="4078224"/>
            <a:ext cx="3858768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29184" y="4096512"/>
            <a:ext cx="3785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Foundry, AzureOpenAI client, Meta Llama 3.3 70B Instruct, temperature 0.1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292608" y="429768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Meta Llama 3.3 70B Instruct and returns deterministic JSON semantic match scores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645152" y="3749040"/>
            <a:ext cx="4114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645152" y="3749040"/>
            <a:ext cx="4114800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73168" y="384048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Governance Report Generator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773168" y="4078224"/>
            <a:ext cx="2880360" cy="1828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809744" y="4096512"/>
            <a:ext cx="2807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openpyxl, Pandas, Excel XLSX output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773168" y="429768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final scored attribute matches into downloadable Excel governance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3776" y="786384"/>
            <a:ext cx="39136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" y="786384"/>
            <a:ext cx="3913632" cy="3657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4592" y="868680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4592" y="868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" y="868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drags and drops PowerBI metadata Excel or CSV file onto the SPA landing interface in the browser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896" y="1261872"/>
            <a:ext cx="182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325880"/>
            <a:ext cx="3913632" cy="475488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3776" y="1325880"/>
            <a:ext cx="3913632" cy="3657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4592" y="1408176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" y="14081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sends multipart HTTP POST with the uploaded file to the Python monolithic pipeline backend endpoint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10896" y="1801368"/>
            <a:ext cx="182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3776" y="1865376"/>
            <a:ext cx="39136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3776" y="1865376"/>
            <a:ext cx="3913632" cy="3657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4592" y="1947672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4592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" y="1947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parses the file into an in-memory attribute dictionary keyed by report name to field, measure, and dimension string lists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10896" y="2340864"/>
            <a:ext cx="182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" y="2404872"/>
            <a:ext cx="3913632" cy="475488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3776" y="2404872"/>
            <a:ext cx="3913632" cy="3657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4592" y="2487168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64592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1792" y="24871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sanitiser applies Unicode normalisation, whitespace stripping, and lowercasing to all extracted attribute strings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10896" y="2880360"/>
            <a:ext cx="182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47488" y="786384"/>
            <a:ext cx="39136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47488" y="786384"/>
            <a:ext cx="3913632" cy="3657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18304" y="868680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18304" y="868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175504" y="868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scorer fits TF-IDF vectorizer on the request corpus and computes TF-IDF cosine, Jaccard, and Levenshtein scores for all attribute pairs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64608" y="1261872"/>
            <a:ext cx="182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47488" y="1325880"/>
            <a:ext cx="3913632" cy="475488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047488" y="1325880"/>
            <a:ext cx="3913632" cy="3657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18304" y="1408176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18304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175504" y="14081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pairs exceeding local similarity threshold are batched at 25 pairs per call and dispatched to Azure AI Foundry via parallelised ThreadPoolExecutor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864608" y="1801368"/>
            <a:ext cx="182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47488" y="1865376"/>
            <a:ext cx="391363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47488" y="1865376"/>
            <a:ext cx="3913632" cy="36576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18304" y="1947672"/>
            <a:ext cx="329184" cy="32918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18304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175504" y="1947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3.3 70B Instruct returns strict JSON semantic match scores with temperature 0.1; retry and backoff handles transient Azure failures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864608" y="2340864"/>
            <a:ext cx="182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47488" y="2404872"/>
            <a:ext cx="3913632" cy="475488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047488" y="2404872"/>
            <a:ext cx="3913632" cy="3657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718304" y="2487168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18304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175504" y="24871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 merges local and LLM scores, assembles ranked duplicate and similarity findings, and returns downloadable Excel governance report to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8412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56032" y="1170432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responsive design (max-width 1200px)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File API drag-and-drop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786384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786384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8412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291840" y="1170432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monolithic pipeline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 vectorizer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python-Levenshtein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08192" y="786384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08192" y="786384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9632" y="8412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99632" y="1170432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3.3 70B Instruct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AzureOpenAI client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character bi-gram to 4-gram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64592" y="2231136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4592" y="2231136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56032" y="261518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Python dictionary per request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XLSX input parsing via Pandas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input parsing via Pandas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XLSX output via openpyxl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00400" y="2231136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0" y="2231136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291840" y="261518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Zero-infrastructure browser-deployable hosting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max_workers=2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managed LLM endpoint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serving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08192" y="2231136"/>
            <a:ext cx="2761488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08192" y="2231136"/>
            <a:ext cx="2761488" cy="32918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99632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99632" y="2615184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normalisation input sanitisation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stripping and lowercasing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server-side state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JSON-only LLM prompt constraints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0.1 deterministic output enforcement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413308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4133088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" y="914400"/>
            <a:ext cx="310896" cy="310896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859536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three-stage scoring pipeline combining TF-IDF, Jaccard, Levenshtein, and LLM semantic analysis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4592" y="1444752"/>
            <a:ext cx="4133088" cy="585216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4592" y="1444752"/>
            <a:ext cx="4133088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" y="1572768"/>
            <a:ext cx="310896" cy="31089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8368" y="1517904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Zero-infrastructure SPA deployment requiring no server provisioning, login, or persistent state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64592" y="2103120"/>
            <a:ext cx="413308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4592" y="2103120"/>
            <a:ext cx="413308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223113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" y="217627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 3.3 70B via Azure AI Foundry with temperature 0.1 enforcing deterministic auditable outputs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64592" y="2761488"/>
            <a:ext cx="4133088" cy="585216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4592" y="2761488"/>
            <a:ext cx="4133088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2889504"/>
            <a:ext cx="310896" cy="310896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8368" y="283464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parallelised LLM batching at 25 pairs per call with retry and backoff logic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64592" y="3419856"/>
            <a:ext cx="413308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4592" y="3419856"/>
            <a:ext cx="4133088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6032" y="3547872"/>
            <a:ext cx="310896" cy="31089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6032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58368" y="349300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normalisation and input sanitisation applied pre-scoring to guarantee data quality and security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45152" y="786384"/>
            <a:ext cx="413308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45152" y="786384"/>
            <a:ext cx="4133088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36592" y="914400"/>
            <a:ext cx="310896" cy="310896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36592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38928" y="859536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governance reporting across PowerBI estates with inconsistent cross-team naming conventions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645152" y="1444752"/>
            <a:ext cx="4133088" cy="585216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45152" y="1444752"/>
            <a:ext cx="4133088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36592" y="1572768"/>
            <a:ext cx="310896" cy="31089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36592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138928" y="1517904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surface duplicate or semantically similar attributes across PowerBI reports at scale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645152" y="2103120"/>
            <a:ext cx="413308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45152" y="2103120"/>
            <a:ext cx="413308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736592" y="223113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3659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138928" y="217627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exportable Excel governance reports from PowerBI metadata with minimal manual effort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645152" y="2761488"/>
            <a:ext cx="4133088" cy="585216"/>
          </a:xfrm>
          <a:prstGeom prst="rect">
            <a:avLst/>
          </a:prstGeom>
          <a:solidFill>
            <a:srgbClr val="FAFAFE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645152" y="2761488"/>
            <a:ext cx="4133088" cy="4572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736592" y="2889504"/>
            <a:ext cx="310896" cy="310896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36592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138928" y="283464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zero-infrastructure, browser-deployable governance tool eliminating all deployment overhead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645152" y="3419856"/>
            <a:ext cx="4133088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645152" y="3419856"/>
            <a:ext cx="4133088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36592" y="3547872"/>
            <a:ext cx="310896" cy="31089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36592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5138928" y="349300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deterministic, auditable AI-driven attribute matching to support data governance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83210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4320" y="11155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per-request processing with ThreadPoolExecutor parallelism scales horizontally; LLM batching at 25 pairs manages Azure API rate limits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45152" y="786384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786384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832104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0" y="11155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persistent state minimises attack surface; input sanitisation prevents injection; no authentication data stored server-side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64592" y="1865376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4592" y="1865376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" y="191109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1945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retry and backoff logic ensures resilience against transient LLM endpoint failures during governance report generation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45152" y="1865376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45152" y="1865376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1911096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4880" y="21945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local scoring pre-filters pairs before LLM calls, reducing Azure AI Foundry invocations and targeting sub-5-minute report generation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64592" y="2944368"/>
            <a:ext cx="4133088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4592" y="2944368"/>
            <a:ext cx="4133088" cy="292608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" y="299008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74320" y="32735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LLM outputs via temperature 0.1 and JSON-only prompts produce auditable, reproducible governance results supporting data compliance requirements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01168" y="786384"/>
            <a:ext cx="2798064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" y="786384"/>
            <a:ext cx="2798064" cy="5486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8229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Foundation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92608" y="11155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92608" y="140817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1545336"/>
            <a:ext cx="146304" cy="14630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1453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scaffold with Bootstrap 5.3.3 drag-and-drop upload and purple design system implemented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2608" y="191109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2048256"/>
            <a:ext cx="146304" cy="14630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1956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skeleton with Excel and CSV parsing into in-memory attribute dictionary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92608" y="241401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551176"/>
            <a:ext cx="146304" cy="14630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24597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 module with Unicode normalisation, whitespace stripping, and lowercasing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92608" y="291693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054096"/>
            <a:ext cx="146304" cy="146304"/>
          </a:xfrm>
          <a:prstGeom prst="ellipse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29626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account provisioned and Meta Llama 3.3 70B Instruct endpoint validated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127248" y="786384"/>
            <a:ext cx="2798064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127248" y="786384"/>
            <a:ext cx="2798064" cy="5486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18688" y="8229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Core Build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218688" y="11155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5-10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218688" y="140817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91840" y="1545336"/>
            <a:ext cx="146304" cy="14630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93008" y="1453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character bi-gram to 4-gram vectorizer with Jaccard and Levenshtein hybrid scoring engine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18688" y="191109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91840" y="2048256"/>
            <a:ext cx="146304" cy="14630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93008" y="1956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 with ThreadPoolExecutor batching at 25 pairs per call and retry backoff logic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18688" y="241401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91840" y="2551176"/>
            <a:ext cx="146304" cy="14630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93008" y="24597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JSON-only prompt templates with temperature 0.1 enforcing deterministic LLM outputs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18688" y="291693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91840" y="3054096"/>
            <a:ext cx="146304" cy="14630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93008" y="29626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governance report generator assembling ranked duplicate and similarity findings via openpyxl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053328" y="786384"/>
            <a:ext cx="2798064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53328" y="786384"/>
            <a:ext cx="2798064" cy="5486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44768" y="82296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Scale &amp; Optimise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144768" y="11155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144768" y="140817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17920" y="1545336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19088" y="1453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of local scoring threshold to minimise unnecessary LLM API calls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144768" y="191109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217920" y="2048256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19088" y="1956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determinism validation suite testing JSON parse success rate across 1000 requests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6144768" y="241401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17920" y="2551176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19088" y="24597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SPA breakpoint refinement at 768px and 480px with cross-browser compatibility testing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144768" y="2916936"/>
            <a:ext cx="2633472" cy="438912"/>
          </a:xfrm>
          <a:prstGeom prst="rect">
            <a:avLst/>
          </a:prstGeom>
          <a:solidFill>
            <a:srgbClr val="EDE9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217920" y="3054096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19088" y="29626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with Data Governance Analysts and BI Platform Administrators on real estates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69494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987552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1097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Assumptions &amp; Open Questions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694944"/>
            <a:ext cx="9144000" cy="54864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887468"/>
            <a:ext cx="9144000" cy="18288"/>
          </a:xfrm>
          <a:prstGeom prst="rect">
            <a:avLst/>
          </a:prstGeom>
          <a:solidFill>
            <a:srgbClr val="E2E0EF"/>
          </a:solidFill>
          <a:ln w="12700">
            <a:solidFill>
              <a:srgbClr val="E2E0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48966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01168" y="501548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03520" y="49423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D3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Governance Analyser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4592" y="786384"/>
            <a:ext cx="2779776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" y="786384"/>
            <a:ext cx="2779776" cy="3657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786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" y="1225296"/>
            <a:ext cx="2615184" cy="73152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" y="1225296"/>
            <a:ext cx="4572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12801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LLM latency spikes cause governance report generation to exceed acceptable time thresholds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7472" y="15727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retry with exponential backoff, cap ThreadPoolExecutor at max_workers=2, and pre-filter pairs with local scoring to reduce LLM call volume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6032" y="2020824"/>
            <a:ext cx="2615184" cy="73152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" y="2020824"/>
            <a:ext cx="4572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07568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refit per request introduces significant CPU overhead for very large PowerBI estates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7472" y="236829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vectorizer fit time against realistic estate sizes and introduce request-scoped caching or incremental fitting if thresholds are breached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6032" y="2816352"/>
            <a:ext cx="2615184" cy="73152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2816352"/>
            <a:ext cx="4572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28712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returns malformed JSON despite strict prompt constraints, breaking report generation pipeline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47472" y="31638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all LLM response parsing in try-except with fallback to local-only scoring and log all parse failures for prompt refinement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56032" y="3611880"/>
            <a:ext cx="2615184" cy="731520"/>
          </a:xfrm>
          <a:prstGeom prst="rect">
            <a:avLst/>
          </a:prstGeom>
          <a:solidFill>
            <a:srgbClr val="FAFAFE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" y="3611880"/>
            <a:ext cx="4572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36667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metadata file uploads cause browser memory pressure or HTTP timeout in zero-infrastructure deployment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47472" y="3959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client-side file size validation in SPA, implement streaming file parsing in Python pipeline, and document supported estate size limits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163824" y="786384"/>
            <a:ext cx="2779776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63824" y="786384"/>
            <a:ext cx="2779776" cy="3657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55264" y="786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255264" y="138074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38144" y="122529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access to a modern web browser and can export PowerBI metadata as Excel or CSV without additional tooling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255264" y="1783080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38144" y="162763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subscription with Meta Llama 3.3 70B Instruct endpoint is provisioned and accessible from the backend host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55264" y="2185416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38144" y="20299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metadata exports contain consistent enough structure for Pandas to parse report name, field, measure, and dimension columns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255264" y="2587752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38144" y="243230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analysts accept sub-5-minute processing time as acceptable for estates up to a defined maximum attribute count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255264" y="299008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38144" y="283464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or multi-user session management is required as the tool operates as a single-user stateless utility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163056" y="786384"/>
            <a:ext cx="2779776" cy="40645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63056" y="786384"/>
            <a:ext cx="2779776" cy="36576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54496" y="786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254496" y="1380744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37376" y="1225296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maximum PowerBI estate size in attribute count that must be supported within the 5-minute performance target?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254496" y="1783080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37376" y="162763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TF-IDF vectorizer similarity threshold for LLM escalation be configurable by the user or fixed in the pipeline?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254496" y="2185416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37376" y="20299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requirement to persist or audit governance report outputs server-side for compliance record-keeping purposes?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254496" y="2587752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37376" y="2432304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fallback behaviour is expected when Azure AI Foundry is unavailable — local-only scoring report or hard failure?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254496" y="2990088"/>
            <a:ext cx="91440" cy="91440"/>
          </a:xfrm>
          <a:prstGeom prst="rect">
            <a:avLst/>
          </a:prstGeom>
          <a:solidFill>
            <a:srgbClr val="3D35C9"/>
          </a:solidFill>
          <a:ln w="12700">
            <a:solidFill>
              <a:srgbClr val="3D35C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7376" y="283464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specific PowerBI metadata export column schemas that must be supported, or should the tool handle arbitrary column naming?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PowerBI Governance Analyser</dc:title>
  <dc:subject>High-Level Architecture Document</dc:subject>
  <dc:creator>AI Solution Architect</dc:creator>
  <cp:lastModifiedBy>AI Solution Architect</cp:lastModifiedBy>
  <cp:revision>1</cp:revision>
  <dcterms:created xsi:type="dcterms:W3CDTF">2026-07-17T07:13:54Z</dcterms:created>
  <dcterms:modified xsi:type="dcterms:W3CDTF">2026-07-17T07:13:54Z</dcterms:modified>
</cp:coreProperties>
</file>