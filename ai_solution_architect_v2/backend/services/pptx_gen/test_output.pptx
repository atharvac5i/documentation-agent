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55280" y="0"/>
            <a:ext cx="1188720" cy="694944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46720" y="109728"/>
            <a:ext cx="987552" cy="4754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" y="109728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0" y="694944"/>
            <a:ext cx="9144000" cy="54864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0" y="4887468"/>
            <a:ext cx="9144000" cy="18288"/>
          </a:xfrm>
          <a:prstGeom prst="rect">
            <a:avLst/>
          </a:prstGeom>
          <a:solidFill>
            <a:srgbClr val="E2E0EF"/>
          </a:solidFill>
          <a:ln w="12700">
            <a:solidFill>
              <a:srgbClr val="E2E0E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01168" y="489661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PowerBI Governance Analyser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201168" y="5015484"/>
            <a:ext cx="3657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5303520" y="494233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PowerBI Governance Analyser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164592" y="786384"/>
            <a:ext cx="8887968" cy="621792"/>
          </a:xfrm>
          <a:prstGeom prst="rect">
            <a:avLst/>
          </a:prstGeom>
          <a:solidFill>
            <a:srgbClr val="EDE9FE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64592" y="786384"/>
            <a:ext cx="54864" cy="621792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29184" y="841248"/>
            <a:ext cx="8577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Browser-deployable SPA with Python monolithic pipeline combining TF-IDF, Jaccard, Levenshtein, and LLM semantic scoring to auto-generate Excel governance reports from PowerBI metadata uploads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201168" y="149961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GOALS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201168" y="1700784"/>
            <a:ext cx="1645920" cy="2286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01168" y="1929384"/>
            <a:ext cx="91440" cy="9144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84048" y="1773936"/>
            <a:ext cx="4005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governance reporting across PowerBI estates with inconsistent cross-team naming conventions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201168" y="2350008"/>
            <a:ext cx="91440" cy="9144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84048" y="2194560"/>
            <a:ext cx="4005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and surface duplicate or semantically similar attributes across PowerBI reports at scale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201168" y="2770632"/>
            <a:ext cx="91440" cy="9144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4048" y="2615184"/>
            <a:ext cx="4005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exportable Excel governance reports from PowerBI metadata with minimal manual effort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201168" y="3191256"/>
            <a:ext cx="91440" cy="9144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84048" y="3035808"/>
            <a:ext cx="4005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zero-infrastructure, browser-deployable governance tool eliminating all deployment overhead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201168" y="3611880"/>
            <a:ext cx="91440" cy="9144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84048" y="3456432"/>
            <a:ext cx="4005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 deterministic, auditable AI-driven attribute matching to support data governance compliance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4535424" y="1499616"/>
            <a:ext cx="18288" cy="3936492"/>
          </a:xfrm>
          <a:prstGeom prst="rect">
            <a:avLst/>
          </a:prstGeom>
          <a:solidFill>
            <a:srgbClr val="E2E0EF"/>
          </a:solidFill>
          <a:ln w="12700">
            <a:solidFill>
              <a:srgbClr val="E2E0E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736592" y="149961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METRICS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4736592" y="1700784"/>
            <a:ext cx="1645920" cy="2286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736592" y="1929384"/>
            <a:ext cx="91440" cy="9144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919472" y="1773936"/>
            <a:ext cx="3913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report generation time reduced to under 5 minutes per PowerBI estate upload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4736592" y="2350008"/>
            <a:ext cx="91440" cy="9144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919472" y="2194560"/>
            <a:ext cx="3913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duplicate detection accuracy exceeds 90% against manually validated attribute pairs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4736592" y="2770632"/>
            <a:ext cx="91440" cy="9144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919472" y="2615184"/>
            <a:ext cx="3913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infrastructure provisioning steps required for end-user deployment and access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4736592" y="3191256"/>
            <a:ext cx="91440" cy="9144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919472" y="3035808"/>
            <a:ext cx="3913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output determinism rate above 99% measured via JSON parse success across 1000 requests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4736592" y="3611880"/>
            <a:ext cx="91440" cy="9144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4919472" y="3456432"/>
            <a:ext cx="3913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Cross-team attribute reconciliation coverage reaches 100% of uploaded metadata fields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55280" y="0"/>
            <a:ext cx="1188720" cy="694944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46720" y="109728"/>
            <a:ext cx="987552" cy="4754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" y="109728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0" y="694944"/>
            <a:ext cx="9144000" cy="54864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0" y="4887468"/>
            <a:ext cx="9144000" cy="18288"/>
          </a:xfrm>
          <a:prstGeom prst="rect">
            <a:avLst/>
          </a:prstGeom>
          <a:solidFill>
            <a:srgbClr val="E2E0EF"/>
          </a:solidFill>
          <a:ln w="12700">
            <a:solidFill>
              <a:srgbClr val="E2E0E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01168" y="489661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PowerBI Governance Analyser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201168" y="5015484"/>
            <a:ext cx="3657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5303520" y="494233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PowerBI Governance Analyser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164592" y="822960"/>
            <a:ext cx="4059936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64592" y="822960"/>
            <a:ext cx="4059936" cy="4572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56032" y="978408"/>
            <a:ext cx="329184" cy="329184"/>
          </a:xfrm>
          <a:prstGeom prst="ellipse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56032" y="978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694944" y="914400"/>
            <a:ext cx="34015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cross-team naming conventions make manual attribute reconciliation infeasible at scale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645152" y="822960"/>
            <a:ext cx="4059936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645152" y="822960"/>
            <a:ext cx="4059936" cy="4572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736592" y="978408"/>
            <a:ext cx="329184" cy="329184"/>
          </a:xfrm>
          <a:prstGeom prst="ellipse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736592" y="978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175504" y="914400"/>
            <a:ext cx="34015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zero-infrastructure tooling exists for semantic governance analysis without heavy deployment overhead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4592" y="1572768"/>
            <a:ext cx="4059936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64592" y="1572768"/>
            <a:ext cx="4059936" cy="4572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56032" y="1728216"/>
            <a:ext cx="329184" cy="329184"/>
          </a:xfrm>
          <a:prstGeom prst="ellipse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256032" y="17282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94944" y="1664208"/>
            <a:ext cx="34015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inference latency risk from per-request client instantiation and batched parallel Azure AI Foundry calls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4645152" y="1572768"/>
            <a:ext cx="4059936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645152" y="1572768"/>
            <a:ext cx="4059936" cy="4572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736592" y="1728216"/>
            <a:ext cx="329184" cy="329184"/>
          </a:xfrm>
          <a:prstGeom prst="ellipse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736592" y="17282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175504" y="1664208"/>
            <a:ext cx="34015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vectorizer refit on every request introduces unnecessary recomputation overhead per upload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164592" y="2322576"/>
            <a:ext cx="4059936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64592" y="2322576"/>
            <a:ext cx="4059936" cy="4572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256032" y="2478024"/>
            <a:ext cx="329184" cy="329184"/>
          </a:xfrm>
          <a:prstGeom prst="ellipse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56032" y="24780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694944" y="2414016"/>
            <a:ext cx="34015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non-determinism risks producing non-auditable, inconsistent governance outputs without strict controls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4645152" y="2322576"/>
            <a:ext cx="4059936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645152" y="2322576"/>
            <a:ext cx="4059936" cy="4572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736592" y="2478024"/>
            <a:ext cx="329184" cy="329184"/>
          </a:xfrm>
          <a:prstGeom prst="ellipse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736592" y="24780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5175504" y="2414016"/>
            <a:ext cx="34015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 administrators lack cross-report attribute consistency visibility across large multi-team PowerBI tenants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164592" y="3753612"/>
            <a:ext cx="4059936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64592" y="3753612"/>
            <a:ext cx="4059936" cy="4572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292608" y="3845052"/>
            <a:ext cx="3858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80" kern="0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IMPACT</a:t>
            </a:r>
            <a:endParaRPr lang="en-US" sz="750" dirty="0"/>
          </a:p>
        </p:txBody>
      </p:sp>
      <p:sp>
        <p:nvSpPr>
          <p:cNvPr id="44" name="Text 41"/>
          <p:cNvSpPr/>
          <p:nvPr/>
        </p:nvSpPr>
        <p:spPr>
          <a:xfrm>
            <a:off x="292608" y="4082796"/>
            <a:ext cx="38587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analysts spend excessive manual effort reconciling PowerBI metadata, leading to delayed compliance reporting and undetected data inconsistencies across teams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4645152" y="3753612"/>
            <a:ext cx="4059936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645152" y="3753612"/>
            <a:ext cx="4059936" cy="4572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773168" y="3845052"/>
            <a:ext cx="3858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80" kern="0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4773168" y="4082796"/>
            <a:ext cx="38587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automated semantic tooling that operates without infrastructure overhead, combined with inherent LLM non-determinism and naming convention fragmentation across BI teams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55280" y="0"/>
            <a:ext cx="1188720" cy="694944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46720" y="109728"/>
            <a:ext cx="987552" cy="4754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" y="109728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0" y="694944"/>
            <a:ext cx="9144000" cy="54864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0" y="4887468"/>
            <a:ext cx="9144000" cy="18288"/>
          </a:xfrm>
          <a:prstGeom prst="rect">
            <a:avLst/>
          </a:prstGeom>
          <a:solidFill>
            <a:srgbClr val="E2E0EF"/>
          </a:solidFill>
          <a:ln w="12700">
            <a:solidFill>
              <a:srgbClr val="E2E0E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01168" y="489661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PowerBI Governance Analyser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201168" y="5015484"/>
            <a:ext cx="3657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5303520" y="494233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PowerBI Governance Analyser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164592" y="786384"/>
            <a:ext cx="8887968" cy="621792"/>
          </a:xfrm>
          <a:prstGeom prst="rect">
            <a:avLst/>
          </a:prstGeom>
          <a:solidFill>
            <a:srgbClr val="EDE9FE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64592" y="786384"/>
            <a:ext cx="54864" cy="621792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29184" y="841248"/>
            <a:ext cx="8577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Browser-deployable SPA with Python monolithic pipeline combining TF-IDF, Jaccard, Levenshtein, and LLM semantic scoring to auto-generate Excel governance reports from PowerBI metadata uploads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201168" y="1499616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DIFFERENTIATORS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201168" y="1700784"/>
            <a:ext cx="1645920" cy="2286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01168" y="1929384"/>
            <a:ext cx="91440" cy="9144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84048" y="1773936"/>
            <a:ext cx="45537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three-stage scoring pipeline combining TF-IDF, Jaccard, Levenshtein, and LLM semantic analysis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201168" y="2350008"/>
            <a:ext cx="91440" cy="9144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84048" y="2194560"/>
            <a:ext cx="45537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Zero-infrastructure SPA deployment requiring no server provisioning, login, or persistent state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201168" y="2770632"/>
            <a:ext cx="91440" cy="9144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4048" y="2615184"/>
            <a:ext cx="45537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Llama 3.3 70B via Azure AI Foundry with temperature 0.1 enforcing deterministic auditable outputs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201168" y="3191256"/>
            <a:ext cx="91440" cy="9144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84048" y="3035808"/>
            <a:ext cx="45537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ThreadPoolExecutor parallelised LLM batching at 25 pairs per call with retry and backoff logic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201168" y="3611880"/>
            <a:ext cx="91440" cy="9144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84048" y="3456432"/>
            <a:ext cx="45537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Unicode normalisation and input sanitisation applied pre-scoring to guarantee data quality and security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468112" y="1499616"/>
            <a:ext cx="3346704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468112" y="1499616"/>
            <a:ext cx="3346704" cy="4572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596128" y="1591056"/>
            <a:ext cx="3145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80" kern="0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5596128" y="1828800"/>
            <a:ext cx="314553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Upload-process-export pipeline: user uploads PowerBI metadata Excel/CSV, backend performs in-memory hybrid scoring, LLM validates semantic matches, Excel governance report is returned for download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164592" y="3895344"/>
            <a:ext cx="8887968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64592" y="3895344"/>
            <a:ext cx="54864" cy="65836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47472" y="395020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60" kern="0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PATTERN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347472" y="4169664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Single-Page Application with monolithic Python processing pipeline and zero persistent server-side state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55280" y="0"/>
            <a:ext cx="1188720" cy="694944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46720" y="109728"/>
            <a:ext cx="987552" cy="4754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" y="109728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High-Level Architecture Diagram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0" y="694944"/>
            <a:ext cx="9144000" cy="54864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0" y="4887468"/>
            <a:ext cx="9144000" cy="18288"/>
          </a:xfrm>
          <a:prstGeom prst="rect">
            <a:avLst/>
          </a:prstGeom>
          <a:solidFill>
            <a:srgbClr val="E2E0EF"/>
          </a:solidFill>
          <a:ln w="12700">
            <a:solidFill>
              <a:srgbClr val="E2E0E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01168" y="489661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PowerBI Governance Analyser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201168" y="5015484"/>
            <a:ext cx="3657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5303520" y="494233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PowerBI Governance Analyser</a:t>
            </a:r>
            <a:endParaRPr lang="en-US" sz="8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" y="786384"/>
            <a:ext cx="8887968" cy="40279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55280" y="0"/>
            <a:ext cx="1188720" cy="694944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46720" y="109728"/>
            <a:ext cx="987552" cy="4754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" y="109728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Breakdown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0" y="694944"/>
            <a:ext cx="9144000" cy="54864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0" y="4887468"/>
            <a:ext cx="9144000" cy="18288"/>
          </a:xfrm>
          <a:prstGeom prst="rect">
            <a:avLst/>
          </a:prstGeom>
          <a:solidFill>
            <a:srgbClr val="E2E0EF"/>
          </a:solidFill>
          <a:ln w="12700">
            <a:solidFill>
              <a:srgbClr val="E2E0E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01168" y="489661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PowerBI Governance Analyser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201168" y="5015484"/>
            <a:ext cx="3657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5303520" y="494233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PowerBI Governance Analyser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164592" y="786384"/>
            <a:ext cx="4114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64592" y="786384"/>
            <a:ext cx="4114800" cy="4572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92608" y="877824"/>
            <a:ext cx="3895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Browser Governance Client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92608" y="1115568"/>
            <a:ext cx="3255264" cy="182880"/>
          </a:xfrm>
          <a:prstGeom prst="rect">
            <a:avLst/>
          </a:prstGeom>
          <a:solidFill>
            <a:srgbClr val="EDE9FE"/>
          </a:solidFill>
          <a:ln w="6350">
            <a:solidFill>
              <a:srgbClr val="E2E0E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29184" y="1133856"/>
            <a:ext cx="31821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Browser, REST client, HTML5 File API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292608" y="1335024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point for metadata upload and governance report download interactions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645152" y="786384"/>
            <a:ext cx="4114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645152" y="786384"/>
            <a:ext cx="4114800" cy="45720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773168" y="877824"/>
            <a:ext cx="3895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SPA Governance Interface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773168" y="1115568"/>
            <a:ext cx="3858768" cy="182880"/>
          </a:xfrm>
          <a:prstGeom prst="rect">
            <a:avLst/>
          </a:prstGeom>
          <a:solidFill>
            <a:srgbClr val="EDE9FE"/>
          </a:solidFill>
          <a:ln w="6350">
            <a:solidFill>
              <a:srgbClr val="E2E0E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809744" y="1133856"/>
            <a:ext cx="37856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5.3.3, HTML5, CSS3, JavaScript, Purple design system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4773168" y="1335024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Renders drag-and-drop upload UI, progress feedback, and triggers Excel report download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164592" y="1773936"/>
            <a:ext cx="4114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64592" y="1773936"/>
            <a:ext cx="4114800" cy="4572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92608" y="1865376"/>
            <a:ext cx="3895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Monolithic Python Governance Processing Pipeline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292608" y="2103120"/>
            <a:ext cx="2880360" cy="182880"/>
          </a:xfrm>
          <a:prstGeom prst="rect">
            <a:avLst/>
          </a:prstGeom>
          <a:solidFill>
            <a:srgbClr val="EDE9FE"/>
          </a:solidFill>
          <a:ln w="6350">
            <a:solidFill>
              <a:srgbClr val="E2E0E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29184" y="2121408"/>
            <a:ext cx="28072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Python, server.py, Pandas, openpyxl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292608" y="2322576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Orchestrates full ingestion, normalisation, scoring, and report generation workflow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645152" y="1773936"/>
            <a:ext cx="4114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645152" y="1773936"/>
            <a:ext cx="4114800" cy="45720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773168" y="1865376"/>
            <a:ext cx="3895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Unicode Normalisation and Input Sanitisation Module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73168" y="2103120"/>
            <a:ext cx="3255264" cy="182880"/>
          </a:xfrm>
          <a:prstGeom prst="rect">
            <a:avLst/>
          </a:prstGeom>
          <a:solidFill>
            <a:srgbClr val="EDE9FE"/>
          </a:solidFill>
          <a:ln w="6350">
            <a:solidFill>
              <a:srgbClr val="E2E0E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809744" y="2121408"/>
            <a:ext cx="31821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unicodedata, str.strip, str.lower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4773168" y="2322576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Strips whitespace, lowercases, and Unicode-normalises all attribute strings before scoring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164592" y="2761488"/>
            <a:ext cx="4114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64592" y="2761488"/>
            <a:ext cx="4114800" cy="4572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292608" y="2852928"/>
            <a:ext cx="3895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TF-IDF, Jaccard, and Levenshtein Hybrid Scoring Engine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292608" y="3090672"/>
            <a:ext cx="3858768" cy="182880"/>
          </a:xfrm>
          <a:prstGeom prst="rect">
            <a:avLst/>
          </a:prstGeom>
          <a:solidFill>
            <a:srgbClr val="EDE9FE"/>
          </a:solidFill>
          <a:ln w="6350">
            <a:solidFill>
              <a:srgbClr val="E2E0E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329184" y="3108960"/>
            <a:ext cx="37856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TF-IDF, character bi-gram to 4-gram, python-Levenshtein, Jaccard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292608" y="3310128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Computes local similarity scores for all attribute pairs before LLM semantic validation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4645152" y="2761488"/>
            <a:ext cx="4114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645152" y="2761488"/>
            <a:ext cx="4114800" cy="45720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773168" y="2852928"/>
            <a:ext cx="3895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Parallelised LLM Inference Orchestrator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773168" y="3090672"/>
            <a:ext cx="3858768" cy="182880"/>
          </a:xfrm>
          <a:prstGeom prst="rect">
            <a:avLst/>
          </a:prstGeom>
          <a:solidFill>
            <a:srgbClr val="EDE9FE"/>
          </a:solidFill>
          <a:ln w="6350">
            <a:solidFill>
              <a:srgbClr val="E2E0E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809744" y="3108960"/>
            <a:ext cx="37856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ThreadPoolExecutor max_workers=2, Python concurrent.futures, retry/backoff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4773168" y="3310128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Batches attribute pairs at 25 per call and dispatches parallel LLM requests with retry logic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164592" y="3749040"/>
            <a:ext cx="4114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164592" y="3749040"/>
            <a:ext cx="4114800" cy="4572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292608" y="3840480"/>
            <a:ext cx="3895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Foundry LLM Endpoint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292608" y="4078224"/>
            <a:ext cx="3858768" cy="182880"/>
          </a:xfrm>
          <a:prstGeom prst="rect">
            <a:avLst/>
          </a:prstGeom>
          <a:solidFill>
            <a:srgbClr val="EDE9FE"/>
          </a:solidFill>
          <a:ln w="6350">
            <a:solidFill>
              <a:srgbClr val="E2E0EF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329184" y="4096512"/>
            <a:ext cx="37856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Foundry, AzureOpenAI client, Meta Llama 3.3 70B Instruct, temperature 0.1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292608" y="4297680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Hosts Meta Llama 3.3 70B Instruct and returns deterministic JSON semantic match scores</a:t>
            </a:r>
            <a:endParaRPr lang="en-US" sz="1000" dirty="0"/>
          </a:p>
        </p:txBody>
      </p:sp>
      <p:sp>
        <p:nvSpPr>
          <p:cNvPr id="53" name="Shape 50"/>
          <p:cNvSpPr/>
          <p:nvPr/>
        </p:nvSpPr>
        <p:spPr>
          <a:xfrm>
            <a:off x="4645152" y="3749040"/>
            <a:ext cx="4114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645152" y="3749040"/>
            <a:ext cx="4114800" cy="45720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773168" y="3840480"/>
            <a:ext cx="3895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Governance Report Generator</a:t>
            </a:r>
            <a:endParaRPr lang="en-US" sz="1100" dirty="0"/>
          </a:p>
        </p:txBody>
      </p:sp>
      <p:sp>
        <p:nvSpPr>
          <p:cNvPr id="56" name="Shape 53"/>
          <p:cNvSpPr/>
          <p:nvPr/>
        </p:nvSpPr>
        <p:spPr>
          <a:xfrm>
            <a:off x="4773168" y="4078224"/>
            <a:ext cx="2880360" cy="182880"/>
          </a:xfrm>
          <a:prstGeom prst="rect">
            <a:avLst/>
          </a:prstGeom>
          <a:solidFill>
            <a:srgbClr val="EDE9FE"/>
          </a:solidFill>
          <a:ln w="6350">
            <a:solidFill>
              <a:srgbClr val="E2E0E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4809744" y="4096512"/>
            <a:ext cx="28072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openpyxl, Pandas, Excel XLSX output</a:t>
            </a:r>
            <a:endParaRPr lang="en-US" sz="800" dirty="0"/>
          </a:p>
        </p:txBody>
      </p:sp>
      <p:sp>
        <p:nvSpPr>
          <p:cNvPr id="58" name="Text 55"/>
          <p:cNvSpPr/>
          <p:nvPr/>
        </p:nvSpPr>
        <p:spPr>
          <a:xfrm>
            <a:off x="4773168" y="4297680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Assembles final scored attribute matches into downloadable Excel governance report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55280" y="0"/>
            <a:ext cx="1188720" cy="694944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46720" y="109728"/>
            <a:ext cx="987552" cy="4754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" y="109728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0" y="694944"/>
            <a:ext cx="9144000" cy="54864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0" y="4887468"/>
            <a:ext cx="9144000" cy="18288"/>
          </a:xfrm>
          <a:prstGeom prst="rect">
            <a:avLst/>
          </a:prstGeom>
          <a:solidFill>
            <a:srgbClr val="E2E0EF"/>
          </a:solidFill>
          <a:ln w="12700">
            <a:solidFill>
              <a:srgbClr val="E2E0E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01168" y="489661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PowerBI Governance Analyser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201168" y="5015484"/>
            <a:ext cx="3657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5303520" y="494233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PowerBI Governance Analyser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93776" y="786384"/>
            <a:ext cx="3913632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93776" y="786384"/>
            <a:ext cx="3913632" cy="36576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64592" y="868680"/>
            <a:ext cx="329184" cy="329184"/>
          </a:xfrm>
          <a:prstGeom prst="ellipse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64592" y="868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21792" y="86868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drags and drops PowerBI metadata Excel or CSV file onto the SPA landing interface in the browser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10896" y="1261872"/>
            <a:ext cx="18288" cy="6400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3776" y="1325880"/>
            <a:ext cx="3913632" cy="475488"/>
          </a:xfrm>
          <a:prstGeom prst="rect">
            <a:avLst/>
          </a:prstGeom>
          <a:solidFill>
            <a:srgbClr val="EDE9FE"/>
          </a:solidFill>
          <a:ln w="6350">
            <a:solidFill>
              <a:srgbClr val="E2E0E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93776" y="1325880"/>
            <a:ext cx="3913632" cy="36576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64592" y="1408176"/>
            <a:ext cx="329184" cy="329184"/>
          </a:xfrm>
          <a:prstGeom prst="ellipse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64592" y="14081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21792" y="1408176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 sends multipart HTTP POST with the uploaded file to the Python monolithic pipeline backend endpoint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10896" y="1801368"/>
            <a:ext cx="18288" cy="6400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93776" y="1865376"/>
            <a:ext cx="3913632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E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93776" y="1865376"/>
            <a:ext cx="3913632" cy="36576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64592" y="1947672"/>
            <a:ext cx="329184" cy="329184"/>
          </a:xfrm>
          <a:prstGeom prst="ellipse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64592" y="1947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21792" y="194767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pipeline parses the file into an in-memory attribute dictionary keyed by report name to field, measure, and dimension string lists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310896" y="2340864"/>
            <a:ext cx="18288" cy="6400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93776" y="2404872"/>
            <a:ext cx="3913632" cy="475488"/>
          </a:xfrm>
          <a:prstGeom prst="rect">
            <a:avLst/>
          </a:prstGeom>
          <a:solidFill>
            <a:srgbClr val="EDE9FE"/>
          </a:solidFill>
          <a:ln w="6350">
            <a:solidFill>
              <a:srgbClr val="E2E0E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93776" y="2404872"/>
            <a:ext cx="3913632" cy="36576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64592" y="2487168"/>
            <a:ext cx="329184" cy="329184"/>
          </a:xfrm>
          <a:prstGeom prst="ellipse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164592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21792" y="2487168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sanitiser applies Unicode normalisation, whitespace stripping, and lowercasing to all extracted attribute strings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310896" y="2880360"/>
            <a:ext cx="18288" cy="6400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047488" y="786384"/>
            <a:ext cx="3913632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EF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047488" y="786384"/>
            <a:ext cx="3913632" cy="36576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18304" y="868680"/>
            <a:ext cx="329184" cy="329184"/>
          </a:xfrm>
          <a:prstGeom prst="ellipse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4718304" y="868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5175504" y="86868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scorer fits TF-IDF vectorizer on the request corpus and computes TF-IDF cosine, Jaccard, and Levenshtein scores for all attribute pairs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864608" y="1261872"/>
            <a:ext cx="18288" cy="6400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47488" y="1325880"/>
            <a:ext cx="3913632" cy="475488"/>
          </a:xfrm>
          <a:prstGeom prst="rect">
            <a:avLst/>
          </a:prstGeom>
          <a:solidFill>
            <a:srgbClr val="EDE9FE"/>
          </a:solidFill>
          <a:ln w="6350">
            <a:solidFill>
              <a:srgbClr val="E2E0E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047488" y="1325880"/>
            <a:ext cx="3913632" cy="36576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718304" y="1408176"/>
            <a:ext cx="329184" cy="329184"/>
          </a:xfrm>
          <a:prstGeom prst="ellipse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4718304" y="14081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5175504" y="1408176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pairs exceeding local similarity threshold are batched at 25 pairs per call and dispatched to Azure AI Foundry via parallelised ThreadPoolExecutor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4864608" y="1801368"/>
            <a:ext cx="18288" cy="6400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047488" y="1865376"/>
            <a:ext cx="3913632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E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47488" y="1865376"/>
            <a:ext cx="3913632" cy="36576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718304" y="1947672"/>
            <a:ext cx="329184" cy="329184"/>
          </a:xfrm>
          <a:prstGeom prst="ellipse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4718304" y="1947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5175504" y="194767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Llama 3.3 70B Instruct returns strict JSON semantic match scores with temperature 0.1; retry and backoff handles transient Azure failures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4864608" y="2340864"/>
            <a:ext cx="18288" cy="6400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047488" y="2404872"/>
            <a:ext cx="3913632" cy="475488"/>
          </a:xfrm>
          <a:prstGeom prst="rect">
            <a:avLst/>
          </a:prstGeom>
          <a:solidFill>
            <a:srgbClr val="EDE9FE"/>
          </a:solidFill>
          <a:ln w="6350">
            <a:solidFill>
              <a:srgbClr val="E2E0E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047488" y="2404872"/>
            <a:ext cx="3913632" cy="36576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718304" y="2487168"/>
            <a:ext cx="329184" cy="329184"/>
          </a:xfrm>
          <a:prstGeom prst="ellipse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4718304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7" name="Text 54"/>
          <p:cNvSpPr/>
          <p:nvPr/>
        </p:nvSpPr>
        <p:spPr>
          <a:xfrm>
            <a:off x="5175504" y="2487168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generator merges local and LLM scores, assembles ranked duplicate and similarity findings, and returns downloadable Excel governance report to the browser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55280" y="0"/>
            <a:ext cx="1188720" cy="694944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46720" y="109728"/>
            <a:ext cx="987552" cy="4754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" y="109728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0" y="694944"/>
            <a:ext cx="9144000" cy="54864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0" y="4887468"/>
            <a:ext cx="9144000" cy="18288"/>
          </a:xfrm>
          <a:prstGeom prst="rect">
            <a:avLst/>
          </a:prstGeom>
          <a:solidFill>
            <a:srgbClr val="E2E0EF"/>
          </a:solidFill>
          <a:ln w="12700">
            <a:solidFill>
              <a:srgbClr val="E2E0E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01168" y="489661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PowerBI Governance Analyser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201168" y="5015484"/>
            <a:ext cx="3657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5303520" y="494233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PowerBI Governance Analyser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164592" y="786384"/>
            <a:ext cx="2761488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64592" y="786384"/>
            <a:ext cx="2761488" cy="329184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56032" y="841248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7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256032" y="1170432"/>
            <a:ext cx="25968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5.3.3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CSS3 responsive design (max-width 1200px)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ES6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File API drag-and-drop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200400" y="786384"/>
            <a:ext cx="2761488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00400" y="786384"/>
            <a:ext cx="2761488" cy="329184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291840" y="841248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7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3291840" y="1170432"/>
            <a:ext cx="25968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3.x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server.py monolithic pipeline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TF-IDF vectorizer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python-Levenshtein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108192" y="786384"/>
            <a:ext cx="2761488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108192" y="786384"/>
            <a:ext cx="2761488" cy="329184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199632" y="841248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7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ML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6199632" y="1170432"/>
            <a:ext cx="25968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Llama 3.3 70B Instruct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Foundry AzureOpenAI client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character bi-gram to 4-gram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Jaccard similarity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Levenshtein distance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164592" y="2231136"/>
            <a:ext cx="2761488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64592" y="2231136"/>
            <a:ext cx="2761488" cy="329184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56032" y="2286000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7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256032" y="2615184"/>
            <a:ext cx="25968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Python dictionary per request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XLSX input parsing via Pandas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input parsing via Pandas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XLSX output via openpyxl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3200400" y="2231136"/>
            <a:ext cx="2761488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200400" y="2231136"/>
            <a:ext cx="2761488" cy="329184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3291840" y="2286000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7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3291840" y="2615184"/>
            <a:ext cx="25968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Zero-infrastructure browser-deployable hosting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ThreadPoolExecutor max_workers=2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Foundry managed LLM endpoint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file serving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6108192" y="2231136"/>
            <a:ext cx="2761488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108192" y="2231136"/>
            <a:ext cx="2761488" cy="329184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199632" y="2286000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7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6199632" y="2615184"/>
            <a:ext cx="25968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Unicode normalisation input sanitisation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Whitespace stripping and lowercasing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persistent server-side state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JSON-only LLM prompt constraints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temperature 0.1 deterministic output enforcement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55280" y="0"/>
            <a:ext cx="1188720" cy="694944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46720" y="109728"/>
            <a:ext cx="987552" cy="4754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" y="109728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 &amp; Capabilities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0" y="694944"/>
            <a:ext cx="9144000" cy="54864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0" y="4887468"/>
            <a:ext cx="9144000" cy="18288"/>
          </a:xfrm>
          <a:prstGeom prst="rect">
            <a:avLst/>
          </a:prstGeom>
          <a:solidFill>
            <a:srgbClr val="E2E0EF"/>
          </a:solidFill>
          <a:ln w="12700">
            <a:solidFill>
              <a:srgbClr val="E2E0E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01168" y="489661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PowerBI Governance Analyser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201168" y="5015484"/>
            <a:ext cx="3657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5303520" y="494233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PowerBI Governance Analyser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164592" y="786384"/>
            <a:ext cx="4133088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64592" y="786384"/>
            <a:ext cx="4133088" cy="4572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56032" y="914400"/>
            <a:ext cx="310896" cy="310896"/>
          </a:xfrm>
          <a:prstGeom prst="ellipse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56032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658368" y="859536"/>
            <a:ext cx="35478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three-stage scoring pipeline combining TF-IDF, Jaccard, Levenshtein, and LLM semantic analysis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164592" y="1444752"/>
            <a:ext cx="4133088" cy="585216"/>
          </a:xfrm>
          <a:prstGeom prst="rect">
            <a:avLst/>
          </a:prstGeom>
          <a:solidFill>
            <a:srgbClr val="FAFAFE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64592" y="1444752"/>
            <a:ext cx="4133088" cy="45720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56032" y="1572768"/>
            <a:ext cx="310896" cy="310896"/>
          </a:xfrm>
          <a:prstGeom prst="ellipse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56032" y="1572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58368" y="1517904"/>
            <a:ext cx="35478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Zero-infrastructure SPA deployment requiring no server provisioning, login, or persistent state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64592" y="2103120"/>
            <a:ext cx="4133088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64592" y="2103120"/>
            <a:ext cx="4133088" cy="457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56032" y="2231136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256032" y="2231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58368" y="2176272"/>
            <a:ext cx="35478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Llama 3.3 70B via Azure AI Foundry with temperature 0.1 enforcing deterministic auditable outputs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164592" y="2761488"/>
            <a:ext cx="4133088" cy="585216"/>
          </a:xfrm>
          <a:prstGeom prst="rect">
            <a:avLst/>
          </a:prstGeom>
          <a:solidFill>
            <a:srgbClr val="FAFAFE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64592" y="2761488"/>
            <a:ext cx="4133088" cy="4572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56032" y="2889504"/>
            <a:ext cx="310896" cy="310896"/>
          </a:xfrm>
          <a:prstGeom prst="ellipse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256032" y="28895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658368" y="2834640"/>
            <a:ext cx="35478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ThreadPoolExecutor parallelised LLM batching at 25 pairs per call with retry and backoff logic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164592" y="3419856"/>
            <a:ext cx="4133088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64592" y="3419856"/>
            <a:ext cx="4133088" cy="45720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256032" y="3547872"/>
            <a:ext cx="310896" cy="310896"/>
          </a:xfrm>
          <a:prstGeom prst="ellipse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56032" y="3547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658368" y="3493008"/>
            <a:ext cx="35478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Unicode normalisation and input sanitisation applied pre-scoring to guarantee data quality and security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645152" y="786384"/>
            <a:ext cx="4133088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645152" y="786384"/>
            <a:ext cx="4133088" cy="4572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736592" y="914400"/>
            <a:ext cx="310896" cy="310896"/>
          </a:xfrm>
          <a:prstGeom prst="ellipse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736592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5138928" y="859536"/>
            <a:ext cx="35478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governance reporting across PowerBI estates with inconsistent cross-team naming conventions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4645152" y="1444752"/>
            <a:ext cx="4133088" cy="585216"/>
          </a:xfrm>
          <a:prstGeom prst="rect">
            <a:avLst/>
          </a:prstGeom>
          <a:solidFill>
            <a:srgbClr val="FAFAFE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645152" y="1444752"/>
            <a:ext cx="4133088" cy="45720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736592" y="1572768"/>
            <a:ext cx="310896" cy="310896"/>
          </a:xfrm>
          <a:prstGeom prst="ellipse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4736592" y="1572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5138928" y="1517904"/>
            <a:ext cx="35478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and surface duplicate or semantically similar attributes across PowerBI reports at scale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4645152" y="2103120"/>
            <a:ext cx="4133088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645152" y="2103120"/>
            <a:ext cx="4133088" cy="457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4736592" y="2231136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4736592" y="2231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5138928" y="2176272"/>
            <a:ext cx="35478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exportable Excel governance reports from PowerBI metadata with minimal manual effort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4645152" y="2761488"/>
            <a:ext cx="4133088" cy="585216"/>
          </a:xfrm>
          <a:prstGeom prst="rect">
            <a:avLst/>
          </a:prstGeom>
          <a:solidFill>
            <a:srgbClr val="FAFAFE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4645152" y="2761488"/>
            <a:ext cx="4133088" cy="4572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736592" y="2889504"/>
            <a:ext cx="310896" cy="310896"/>
          </a:xfrm>
          <a:prstGeom prst="ellipse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4736592" y="28895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55" name="Text 52"/>
          <p:cNvSpPr/>
          <p:nvPr/>
        </p:nvSpPr>
        <p:spPr>
          <a:xfrm>
            <a:off x="5138928" y="2834640"/>
            <a:ext cx="35478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zero-infrastructure, browser-deployable governance tool eliminating all deployment overhead</a:t>
            </a:r>
            <a:endParaRPr lang="en-US" sz="1100" dirty="0"/>
          </a:p>
        </p:txBody>
      </p:sp>
      <p:sp>
        <p:nvSpPr>
          <p:cNvPr id="56" name="Shape 53"/>
          <p:cNvSpPr/>
          <p:nvPr/>
        </p:nvSpPr>
        <p:spPr>
          <a:xfrm>
            <a:off x="4645152" y="3419856"/>
            <a:ext cx="4133088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645152" y="3419856"/>
            <a:ext cx="4133088" cy="45720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4736592" y="3547872"/>
            <a:ext cx="310896" cy="310896"/>
          </a:xfrm>
          <a:prstGeom prst="ellipse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4736592" y="3547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0" name="Text 57"/>
          <p:cNvSpPr/>
          <p:nvPr/>
        </p:nvSpPr>
        <p:spPr>
          <a:xfrm>
            <a:off x="5138928" y="3493008"/>
            <a:ext cx="35478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 deterministic, auditable AI-driven attribute matching to support data governance compliance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55280" y="0"/>
            <a:ext cx="1188720" cy="694944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46720" y="109728"/>
            <a:ext cx="987552" cy="4754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" y="109728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Non-Functional Requirements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0" y="694944"/>
            <a:ext cx="9144000" cy="54864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0" y="4887468"/>
            <a:ext cx="9144000" cy="18288"/>
          </a:xfrm>
          <a:prstGeom prst="rect">
            <a:avLst/>
          </a:prstGeom>
          <a:solidFill>
            <a:srgbClr val="E2E0EF"/>
          </a:solidFill>
          <a:ln w="12700">
            <a:solidFill>
              <a:srgbClr val="E2E0E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01168" y="489661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PowerBI Governance Analyser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201168" y="5015484"/>
            <a:ext cx="3657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5303520" y="494233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PowerBI Governance Analyser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164592" y="786384"/>
            <a:ext cx="4133088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64592" y="786384"/>
            <a:ext cx="4133088" cy="292608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56032" y="832104"/>
            <a:ext cx="3968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274320" y="1115568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per-request processing with ThreadPoolExecutor parallelism scales horizontally; LLM batching at 25 pairs manages Azure API rate limits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645152" y="786384"/>
            <a:ext cx="4133088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45152" y="786384"/>
            <a:ext cx="4133088" cy="292608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736592" y="832104"/>
            <a:ext cx="3968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4754880" y="1115568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persistent state minimises attack surface; input sanitisation prevents injection; no authentication data stored server-side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64592" y="1865376"/>
            <a:ext cx="4133088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64592" y="1865376"/>
            <a:ext cx="4133088" cy="292608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56032" y="1911096"/>
            <a:ext cx="3968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274320" y="219456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Foundry retry and backoff logic ensures resilience against transient LLM endpoint failures during governance report generation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645152" y="1865376"/>
            <a:ext cx="4133088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645152" y="1865376"/>
            <a:ext cx="4133088" cy="292608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736592" y="1911096"/>
            <a:ext cx="3968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4754880" y="219456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local scoring pre-filters pairs before LLM calls, reducing Azure AI Foundry invocations and targeting sub-5-minute report generation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64592" y="2944368"/>
            <a:ext cx="4133088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64592" y="2944368"/>
            <a:ext cx="4133088" cy="292608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256032" y="2990088"/>
            <a:ext cx="3968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274320" y="327355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LLM outputs via temperature 0.1 and JSON-only prompts produce auditable, reproducible governance results supporting data compliance requirements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55280" y="0"/>
            <a:ext cx="1188720" cy="694944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46720" y="109728"/>
            <a:ext cx="987552" cy="4754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" y="109728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Roadmap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0" y="694944"/>
            <a:ext cx="9144000" cy="54864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0" y="4887468"/>
            <a:ext cx="9144000" cy="18288"/>
          </a:xfrm>
          <a:prstGeom prst="rect">
            <a:avLst/>
          </a:prstGeom>
          <a:solidFill>
            <a:srgbClr val="E2E0EF"/>
          </a:solidFill>
          <a:ln w="12700">
            <a:solidFill>
              <a:srgbClr val="E2E0E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01168" y="489661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PowerBI Governance Analyser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201168" y="5015484"/>
            <a:ext cx="3657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5303520" y="494233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PowerBI Governance Analyser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201168" y="786384"/>
            <a:ext cx="2798064" cy="40645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1168" y="786384"/>
            <a:ext cx="2798064" cy="54864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92608" y="822960"/>
            <a:ext cx="267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1 - Foundation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292608" y="1115568"/>
            <a:ext cx="2670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1-4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292608" y="1408176"/>
            <a:ext cx="2633472" cy="438912"/>
          </a:xfrm>
          <a:prstGeom prst="rect">
            <a:avLst/>
          </a:prstGeom>
          <a:solidFill>
            <a:srgbClr val="EDE9FE"/>
          </a:solidFill>
          <a:ln w="6350">
            <a:solidFill>
              <a:srgbClr val="E2E0E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" y="1545336"/>
            <a:ext cx="146304" cy="146304"/>
          </a:xfrm>
          <a:prstGeom prst="ellipse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145389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 scaffold with Bootstrap 5.3.3 drag-and-drop upload and purple design system implemented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292608" y="1911096"/>
            <a:ext cx="2633472" cy="438912"/>
          </a:xfrm>
          <a:prstGeom prst="rect">
            <a:avLst/>
          </a:prstGeom>
          <a:solidFill>
            <a:srgbClr val="EDE9FE"/>
          </a:solidFill>
          <a:ln w="6350">
            <a:solidFill>
              <a:srgbClr val="E2E0E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65760" y="2048256"/>
            <a:ext cx="146304" cy="146304"/>
          </a:xfrm>
          <a:prstGeom prst="ellipse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66928" y="195681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pipeline skeleton with Excel and CSV parsing into in-memory attribute dictionary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292608" y="2414016"/>
            <a:ext cx="2633472" cy="438912"/>
          </a:xfrm>
          <a:prstGeom prst="rect">
            <a:avLst/>
          </a:prstGeom>
          <a:solidFill>
            <a:srgbClr val="EDE9FE"/>
          </a:solidFill>
          <a:ln w="6350">
            <a:solidFill>
              <a:srgbClr val="E2E0E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65760" y="2551176"/>
            <a:ext cx="146304" cy="146304"/>
          </a:xfrm>
          <a:prstGeom prst="ellipse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245973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sanitisation module with Unicode normalisation, whitespace stripping, and lowercasing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292608" y="2916936"/>
            <a:ext cx="2633472" cy="438912"/>
          </a:xfrm>
          <a:prstGeom prst="rect">
            <a:avLst/>
          </a:prstGeom>
          <a:solidFill>
            <a:srgbClr val="EDE9FE"/>
          </a:solidFill>
          <a:ln w="6350">
            <a:solidFill>
              <a:srgbClr val="E2E0E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65760" y="3054096"/>
            <a:ext cx="146304" cy="146304"/>
          </a:xfrm>
          <a:prstGeom prst="ellipse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66928" y="296265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Foundry account provisioned and Meta Llama 3.3 70B Instruct endpoint validated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3127248" y="786384"/>
            <a:ext cx="2798064" cy="40645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127248" y="786384"/>
            <a:ext cx="2798064" cy="54864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3218688" y="822960"/>
            <a:ext cx="267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2 - Core Build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3218688" y="1115568"/>
            <a:ext cx="2670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5-10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3218688" y="1408176"/>
            <a:ext cx="2633472" cy="438912"/>
          </a:xfrm>
          <a:prstGeom prst="rect">
            <a:avLst/>
          </a:prstGeom>
          <a:solidFill>
            <a:srgbClr val="EDE9FE"/>
          </a:solidFill>
          <a:ln w="6350">
            <a:solidFill>
              <a:srgbClr val="E2E0E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3291840" y="1545336"/>
            <a:ext cx="146304" cy="146304"/>
          </a:xfrm>
          <a:prstGeom prst="ellipse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3493008" y="145389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character bi-gram to 4-gram vectorizer with Jaccard and Levenshtein hybrid scoring engine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3218688" y="1911096"/>
            <a:ext cx="2633472" cy="438912"/>
          </a:xfrm>
          <a:prstGeom prst="rect">
            <a:avLst/>
          </a:prstGeom>
          <a:solidFill>
            <a:srgbClr val="EDE9FE"/>
          </a:solidFill>
          <a:ln w="6350">
            <a:solidFill>
              <a:srgbClr val="E2E0E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291840" y="2048256"/>
            <a:ext cx="146304" cy="146304"/>
          </a:xfrm>
          <a:prstGeom prst="ellipse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3493008" y="195681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orchestrator with ThreadPoolExecutor batching at 25 pairs per call and retry backoff logic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3218688" y="2414016"/>
            <a:ext cx="2633472" cy="438912"/>
          </a:xfrm>
          <a:prstGeom prst="rect">
            <a:avLst/>
          </a:prstGeom>
          <a:solidFill>
            <a:srgbClr val="EDE9FE"/>
          </a:solidFill>
          <a:ln w="6350">
            <a:solidFill>
              <a:srgbClr val="E2E0EF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291840" y="2551176"/>
            <a:ext cx="146304" cy="146304"/>
          </a:xfrm>
          <a:prstGeom prst="ellipse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3493008" y="245973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JSON-only prompt templates with temperature 0.1 enforcing deterministic LLM outputs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3218688" y="2916936"/>
            <a:ext cx="2633472" cy="438912"/>
          </a:xfrm>
          <a:prstGeom prst="rect">
            <a:avLst/>
          </a:prstGeom>
          <a:solidFill>
            <a:srgbClr val="EDE9FE"/>
          </a:solidFill>
          <a:ln w="6350">
            <a:solidFill>
              <a:srgbClr val="E2E0E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3291840" y="3054096"/>
            <a:ext cx="146304" cy="146304"/>
          </a:xfrm>
          <a:prstGeom prst="ellipse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3493008" y="296265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governance report generator assembling ranked duplicate and similarity findings via openpyxl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6053328" y="786384"/>
            <a:ext cx="2798064" cy="40645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053328" y="786384"/>
            <a:ext cx="2798064" cy="54864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144768" y="822960"/>
            <a:ext cx="267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3 - Scale &amp; Optimise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6144768" y="1115568"/>
            <a:ext cx="2670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11-16</a:t>
            </a:r>
            <a:endParaRPr lang="en-US" sz="850" dirty="0"/>
          </a:p>
        </p:txBody>
      </p:sp>
      <p:sp>
        <p:nvSpPr>
          <p:cNvPr id="47" name="Shape 44"/>
          <p:cNvSpPr/>
          <p:nvPr/>
        </p:nvSpPr>
        <p:spPr>
          <a:xfrm>
            <a:off x="6144768" y="1408176"/>
            <a:ext cx="2633472" cy="438912"/>
          </a:xfrm>
          <a:prstGeom prst="rect">
            <a:avLst/>
          </a:prstGeom>
          <a:solidFill>
            <a:srgbClr val="EDE9FE"/>
          </a:solidFill>
          <a:ln w="6350">
            <a:solidFill>
              <a:srgbClr val="E2E0E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217920" y="1545336"/>
            <a:ext cx="146304" cy="146304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6419088" y="145389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tuning of local scoring threshold to minimise unnecessary LLM API calls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6144768" y="1911096"/>
            <a:ext cx="2633472" cy="438912"/>
          </a:xfrm>
          <a:prstGeom prst="rect">
            <a:avLst/>
          </a:prstGeom>
          <a:solidFill>
            <a:srgbClr val="EDE9FE"/>
          </a:solidFill>
          <a:ln w="6350">
            <a:solidFill>
              <a:srgbClr val="E2E0EF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217920" y="2048256"/>
            <a:ext cx="146304" cy="146304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419088" y="195681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determinism validation suite testing JSON parse success rate across 1000 requests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6144768" y="2414016"/>
            <a:ext cx="2633472" cy="438912"/>
          </a:xfrm>
          <a:prstGeom prst="rect">
            <a:avLst/>
          </a:prstGeom>
          <a:solidFill>
            <a:srgbClr val="EDE9FE"/>
          </a:solidFill>
          <a:ln w="6350">
            <a:solidFill>
              <a:srgbClr val="E2E0E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6217920" y="2551176"/>
            <a:ext cx="146304" cy="146304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6419088" y="245973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SPA breakpoint refinement at 768px and 480px with cross-browser compatibility testing</a:t>
            </a:r>
            <a:endParaRPr lang="en-US" sz="900" dirty="0"/>
          </a:p>
        </p:txBody>
      </p:sp>
      <p:sp>
        <p:nvSpPr>
          <p:cNvPr id="56" name="Shape 53"/>
          <p:cNvSpPr/>
          <p:nvPr/>
        </p:nvSpPr>
        <p:spPr>
          <a:xfrm>
            <a:off x="6144768" y="2916936"/>
            <a:ext cx="2633472" cy="438912"/>
          </a:xfrm>
          <a:prstGeom prst="rect">
            <a:avLst/>
          </a:prstGeom>
          <a:solidFill>
            <a:srgbClr val="EDE9FE"/>
          </a:solidFill>
          <a:ln w="6350">
            <a:solidFill>
              <a:srgbClr val="E2E0E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217920" y="3054096"/>
            <a:ext cx="146304" cy="146304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6419088" y="296265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acceptance testing with Data Governance Analysts and BI Platform Administrators on real estates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55280" y="0"/>
            <a:ext cx="1188720" cy="694944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46720" y="109728"/>
            <a:ext cx="987552" cy="4754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" y="109728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Risks, Assumptions &amp; Open Questions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0" y="694944"/>
            <a:ext cx="9144000" cy="54864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0" y="4887468"/>
            <a:ext cx="9144000" cy="18288"/>
          </a:xfrm>
          <a:prstGeom prst="rect">
            <a:avLst/>
          </a:prstGeom>
          <a:solidFill>
            <a:srgbClr val="E2E0EF"/>
          </a:solidFill>
          <a:ln w="12700">
            <a:solidFill>
              <a:srgbClr val="E2E0E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01168" y="489661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PowerBI Governance Analyser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201168" y="5015484"/>
            <a:ext cx="3657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5303520" y="494233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3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PowerBI Governance Analyser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164592" y="786384"/>
            <a:ext cx="2779776" cy="40645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64592" y="786384"/>
            <a:ext cx="2779776" cy="36576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56032" y="78638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&amp; MITIGATION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256032" y="1225296"/>
            <a:ext cx="2615184" cy="731520"/>
          </a:xfrm>
          <a:prstGeom prst="rect">
            <a:avLst/>
          </a:prstGeom>
          <a:solidFill>
            <a:srgbClr val="FAFAFE"/>
          </a:solidFill>
          <a:ln w="6350">
            <a:solidFill>
              <a:srgbClr val="E2E0E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56032" y="1225296"/>
            <a:ext cx="45720" cy="7315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7472" y="1280160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Foundry LLM latency spikes cause governance report generation to exceed acceptable time thresholds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47472" y="1572768"/>
            <a:ext cx="2487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retry with exponential backoff, cap ThreadPoolExecutor at max_workers=2, and pre-filter pairs with local scoring to reduce LLM call volume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256032" y="2020824"/>
            <a:ext cx="2615184" cy="731520"/>
          </a:xfrm>
          <a:prstGeom prst="rect">
            <a:avLst/>
          </a:prstGeom>
          <a:solidFill>
            <a:srgbClr val="FAFAFE"/>
          </a:solidFill>
          <a:ln w="6350">
            <a:solidFill>
              <a:srgbClr val="E2E0E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56032" y="2020824"/>
            <a:ext cx="45720" cy="7315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47472" y="2075688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vectorizer refit per request introduces significant CPU overhead for very large PowerBI estates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347472" y="2368296"/>
            <a:ext cx="2487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vectorizer fit time against realistic estate sizes and introduce request-scoped caching or incremental fitting if thresholds are breached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256032" y="2816352"/>
            <a:ext cx="2615184" cy="731520"/>
          </a:xfrm>
          <a:prstGeom prst="rect">
            <a:avLst/>
          </a:prstGeom>
          <a:solidFill>
            <a:srgbClr val="FAFAFE"/>
          </a:solidFill>
          <a:ln w="6350">
            <a:solidFill>
              <a:srgbClr val="E2E0E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56032" y="2816352"/>
            <a:ext cx="45720" cy="7315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47472" y="2871216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returns malformed JSON despite strict prompt constraints, breaking report generation pipeline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347472" y="3163824"/>
            <a:ext cx="2487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all LLM response parsing in try-except with fallback to local-only scoring and log all parse failures for prompt refinement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256032" y="3611880"/>
            <a:ext cx="2615184" cy="731520"/>
          </a:xfrm>
          <a:prstGeom prst="rect">
            <a:avLst/>
          </a:prstGeom>
          <a:solidFill>
            <a:srgbClr val="FAFAFE"/>
          </a:solidFill>
          <a:ln w="6350">
            <a:solidFill>
              <a:srgbClr val="E2E0E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56032" y="3611880"/>
            <a:ext cx="45720" cy="7315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47472" y="3666744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metadata file uploads cause browser memory pressure or HTTP timeout in zero-infrastructure deployment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347472" y="3959352"/>
            <a:ext cx="2487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 client-side file size validation in SPA, implement streaming file parsing in Python pipeline, and document supported estate size limits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3163824" y="786384"/>
            <a:ext cx="2779776" cy="40645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163824" y="786384"/>
            <a:ext cx="2779776" cy="36576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255264" y="78638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3255264" y="1380744"/>
            <a:ext cx="91440" cy="9144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3438144" y="1225296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have access to a modern web browser and can export PowerBI metadata as Excel or CSV without additional tooling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3255264" y="1783080"/>
            <a:ext cx="91440" cy="9144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3438144" y="1627632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Foundry subscription with Meta Llama 3.3 70B Instruct endpoint is provisioned and accessible from the backend host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3255264" y="2185416"/>
            <a:ext cx="91440" cy="9144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3438144" y="2029968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PowerBI metadata exports contain consistent enough structure for Pandas to parse report name, field, measure, and dimension columns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3255264" y="2587752"/>
            <a:ext cx="91440" cy="9144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3438144" y="2432304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analysts accept sub-5-minute processing time as acceptable for estates up to a defined maximum attribute count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3255264" y="2990088"/>
            <a:ext cx="91440" cy="9144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3438144" y="2834640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authentication or multi-user session management is required as the tool operates as a single-user stateless utility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6163056" y="786384"/>
            <a:ext cx="2779776" cy="40645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0E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163056" y="786384"/>
            <a:ext cx="2779776" cy="36576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254496" y="78638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</a:t>
            </a:r>
            <a:endParaRPr lang="en-US" sz="900" dirty="0"/>
          </a:p>
        </p:txBody>
      </p:sp>
      <p:sp>
        <p:nvSpPr>
          <p:cNvPr id="46" name="Shape 43"/>
          <p:cNvSpPr/>
          <p:nvPr/>
        </p:nvSpPr>
        <p:spPr>
          <a:xfrm>
            <a:off x="6254496" y="1380744"/>
            <a:ext cx="91440" cy="9144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6437376" y="1225296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maximum PowerBI estate size in attribute count that must be supported within the 5-minute performance target?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6254496" y="1783080"/>
            <a:ext cx="91440" cy="9144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6437376" y="1627632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the TF-IDF vectorizer similarity threshold for LLM escalation be configurable by the user or fixed in the pipeline?</a:t>
            </a:r>
            <a:endParaRPr lang="en-US" sz="1050" dirty="0"/>
          </a:p>
        </p:txBody>
      </p:sp>
      <p:sp>
        <p:nvSpPr>
          <p:cNvPr id="50" name="Shape 47"/>
          <p:cNvSpPr/>
          <p:nvPr/>
        </p:nvSpPr>
        <p:spPr>
          <a:xfrm>
            <a:off x="6254496" y="2185416"/>
            <a:ext cx="91440" cy="9144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6437376" y="2029968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 requirement to persist or audit governance report outputs server-side for compliance record-keeping purposes?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6254496" y="2587752"/>
            <a:ext cx="91440" cy="9144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6437376" y="2432304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fallback behaviour is expected when Azure AI Foundry is unavailable — local-only scoring report or hard failure?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6254496" y="2990088"/>
            <a:ext cx="91440" cy="91440"/>
          </a:xfrm>
          <a:prstGeom prst="rect">
            <a:avLst/>
          </a:prstGeom>
          <a:solidFill>
            <a:srgbClr val="3D35C9"/>
          </a:solidFill>
          <a:ln w="12700">
            <a:solidFill>
              <a:srgbClr val="3D35C9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6437376" y="2834640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there specific PowerBI metadata export column schemas that must be supported, or should the tool handle arbitrary column naming?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PowerBI Governance Analyser</dc:title>
  <dc:subject>High-Level Architecture Document</dc:subject>
  <dc:creator>AI Solution Architect</dc:creator>
  <cp:lastModifiedBy>AI Solution Architect</cp:lastModifiedBy>
  <cp:revision>1</cp:revision>
  <dcterms:created xsi:type="dcterms:W3CDTF">2026-07-17T05:25:22Z</dcterms:created>
  <dcterms:modified xsi:type="dcterms:W3CDTF">2026-07-17T05:25:22Z</dcterms:modified>
</cp:coreProperties>
</file>